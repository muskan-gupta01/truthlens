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322"/>
          </a:solidFill>
          <a:ln>
            <a:solidFill>
              <a:srgbClr val="0A13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371600" y="1097280"/>
            <a:ext cx="9448495" cy="4663440"/>
          </a:xfrm>
          <a:prstGeom prst="roundRect">
            <a:avLst/>
          </a:prstGeom>
          <a:solidFill>
            <a:srgbClr val="0E1C30"/>
          </a:solidFill>
          <a:ln w="25400">
            <a:solidFill>
              <a:srgbClr val="00AD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828800" y="1463040"/>
            <a:ext cx="8534095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00ADB5"/>
                </a:solidFill>
              </a:defRPr>
            </a:pPr>
            <a:r>
              <a:t>SMART INDIA HACKATHON (SIH 2024-2026)</a:t>
            </a:r>
          </a:p>
          <a:p>
            <a:pPr>
              <a:defRPr sz="4400" b="1">
                <a:solidFill>
                  <a:srgbClr val="F1F5F9"/>
                </a:solidFill>
              </a:defRPr>
            </a:pPr>
            <a:r>
              <a:t>TruthLens</a:t>
            </a:r>
          </a:p>
          <a:p>
            <a:pPr>
              <a:defRPr sz="2200">
                <a:solidFill>
                  <a:srgbClr val="00F5D4"/>
                </a:solidFill>
              </a:defRPr>
            </a:pPr>
            <a:r>
              <a:t>AI-Based Fake Identity &amp; Document Screening System</a:t>
            </a:r>
          </a:p>
          <a:p>
            <a:br/>
            <a:pPr>
              <a:defRPr sz="1400">
                <a:solidFill>
                  <a:srgbClr val="94A3B8"/>
                </a:solidFill>
              </a:defRPr>
            </a:pPr>
            <a:r>
              <a:t>Problem Statement ID: SIH26188</a:t>
            </a:r>
            <a:br/>
            <a:r>
              <a:t>Ministry: Ministry of Home Affairs (MHA)</a:t>
            </a:r>
            <a:br/>
            <a:r>
              <a:t>Category: Blockchain &amp; Cybersecurity</a:t>
            </a:r>
          </a:p>
          <a:p>
            <a:br/>
            <a:pPr>
              <a:defRPr sz="1300" b="1">
                <a:solidFill>
                  <a:srgbClr val="F1F5F9"/>
                </a:solidFill>
              </a:defRPr>
            </a:pPr>
            <a:r>
              <a:t>Team Presentation &amp; Live Demonstration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322"/>
          </a:solidFill>
          <a:ln>
            <a:solidFill>
              <a:srgbClr val="0A13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457200"/>
            <a:ext cx="10728655" cy="54864"/>
          </a:xfrm>
          <a:prstGeom prst="rect">
            <a:avLst/>
          </a:prstGeom>
          <a:solidFill>
            <a:srgbClr val="00ADB5"/>
          </a:solidFill>
          <a:ln>
            <a:solidFill>
              <a:srgbClr val="00AD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594360"/>
            <a:ext cx="1072865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0ADB5"/>
                </a:solidFill>
              </a:defRPr>
            </a:pPr>
            <a:r>
              <a:t>SIH26188 • MINISTRY OF HOME AFFAIRS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868680"/>
            <a:ext cx="10728655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F1F5F9"/>
                </a:solidFill>
              </a:defRPr>
            </a:pPr>
            <a:r>
              <a:t>The Problem: Border Checkpoint Identity Screening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37360"/>
            <a:ext cx="5120640" cy="4389120"/>
          </a:xfrm>
          <a:prstGeom prst="roundRect">
            <a:avLst/>
          </a:prstGeom>
          <a:solidFill>
            <a:srgbClr val="0E1C30"/>
          </a:solidFill>
          <a:ln>
            <a:solidFill>
              <a:srgbClr val="00AD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00F5D4"/>
                </a:solidFill>
              </a:defRPr>
            </a:pPr>
            <a:r>
              <a:t>Operational Context &amp; Real-World Strain</a:t>
            </a:r>
          </a:p>
          <a:p>
            <a:pPr>
              <a:defRPr b="1" sz="1300">
                <a:solidFill>
                  <a:srgbClr val="F1F5F9"/>
                </a:solidFill>
              </a:defRPr>
            </a:pPr>
            <a:r>
              <a:t>• High Passenger Volume: 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   Border terminals process thousands of passports, visas, and national IDs daily, causing long checkpoint queues.</a:t>
            </a:r>
          </a:p>
          <a:p>
            <a:pPr>
              <a:defRPr b="1" sz="1300">
                <a:solidFill>
                  <a:srgbClr val="F1F5F9"/>
                </a:solidFill>
              </a:defRPr>
            </a:pPr>
            <a:r>
              <a:t>• Manual Inspection Limitations: 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   Physical inspection is slow (takes 3–5 minutes per traveler) and prone to human fatigue.</a:t>
            </a:r>
          </a:p>
          <a:p>
            <a:pPr>
              <a:defRPr b="1" sz="1300">
                <a:solidFill>
                  <a:srgbClr val="F1F5F9"/>
                </a:solidFill>
              </a:defRPr>
            </a:pPr>
            <a:r>
              <a:t>• Sophisticated Forgeries: 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   Modern counterfeiters use digital editing tools (Photoshop, Canva) to alter photos and names without leaving visible paper tears.</a:t>
            </a:r>
          </a:p>
          <a:p>
            <a:pPr>
              <a:defRPr b="1" sz="1300">
                <a:solidFill>
                  <a:srgbClr val="F1F5F9"/>
                </a:solidFill>
              </a:defRPr>
            </a:pPr>
            <a:r>
              <a:t>• Security Vulnerabilities: 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   Human officers cannot mathematically verify MRZ 7-3-1 check digits or Verhoeff D5 algorithms with the naked eye.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737360"/>
            <a:ext cx="5212080" cy="4389120"/>
          </a:xfrm>
          <a:prstGeom prst="roundRect">
            <a:avLst/>
          </a:prstGeom>
          <a:solidFill>
            <a:srgbClr val="0E1C30"/>
          </a:solidFill>
          <a:ln>
            <a:solidFill>
              <a:srgbClr val="EF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EF4444"/>
                </a:solidFill>
              </a:defRPr>
            </a:pPr>
            <a:r>
              <a:t>Key Threats Faced at Borders</a:t>
            </a:r>
          </a:p>
          <a:p>
            <a:pPr>
              <a:defRPr b="1" sz="1300">
                <a:solidFill>
                  <a:srgbClr val="F1F5F9"/>
                </a:solidFill>
              </a:defRPr>
            </a:pPr>
            <a:r>
              <a:t>✕ Counterfeit Passports &amp; Visas: 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   Fabricated travel authorizations circulating through transnational fraud rings.</a:t>
            </a:r>
          </a:p>
          <a:p>
            <a:pPr>
              <a:defRPr b="1" sz="1300">
                <a:solidFill>
                  <a:srgbClr val="F1F5F9"/>
                </a:solidFill>
              </a:defRPr>
            </a:pPr>
            <a:r>
              <a:t>✕ Photo Replacement &amp; Face Splicing: 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   Pasting a foreign face onto a genuine passport holder's page.</a:t>
            </a:r>
          </a:p>
          <a:p>
            <a:pPr>
              <a:defRPr b="1" sz="1300">
                <a:solidFill>
                  <a:srgbClr val="F1F5F9"/>
                </a:solidFill>
              </a:defRPr>
            </a:pPr>
            <a:r>
              <a:t>✕ Identity Impersonation: 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   Travelers carrying genuine documents belonging to a lookalike individual.</a:t>
            </a:r>
          </a:p>
          <a:p>
            <a:pPr>
              <a:defRPr b="1" sz="1300">
                <a:solidFill>
                  <a:srgbClr val="F1F5F9"/>
                </a:solidFill>
              </a:defRPr>
            </a:pPr>
            <a:r>
              <a:t>✕ Altered Dates &amp; Validity Overstay: 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   Changing expiry dates to bypass border stay duration limits.</a:t>
            </a:r>
          </a:p>
          <a:p>
            <a:pPr>
              <a:defRPr b="1" sz="1300">
                <a:solidFill>
                  <a:srgbClr val="F1F5F9"/>
                </a:solidFill>
              </a:defRPr>
            </a:pPr>
            <a:r>
              <a:t>✕ Blacklisted &amp; Stolen Stock: 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   Use of stolen blank passport stock (Interpol SLTD notices).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322"/>
          </a:solidFill>
          <a:ln>
            <a:solidFill>
              <a:srgbClr val="0A13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457200"/>
            <a:ext cx="10728655" cy="54864"/>
          </a:xfrm>
          <a:prstGeom prst="rect">
            <a:avLst/>
          </a:prstGeom>
          <a:solidFill>
            <a:srgbClr val="00ADB5"/>
          </a:solidFill>
          <a:ln>
            <a:solidFill>
              <a:srgbClr val="00AD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594360"/>
            <a:ext cx="1072865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0ADB5"/>
                </a:solidFill>
              </a:defRPr>
            </a:pPr>
            <a:r>
              <a:t>SIH26188 • MINISTRY OF HOME AFFAIRS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868680"/>
            <a:ext cx="10728655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F1F5F9"/>
                </a:solidFill>
              </a:defRPr>
            </a:pPr>
            <a:r>
              <a:t>Our Solution: TruthLens 7-Step Autonomous Pipeline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2103120"/>
            <a:ext cx="1417320" cy="3474720"/>
          </a:xfrm>
          <a:prstGeom prst="roundRect">
            <a:avLst/>
          </a:prstGeom>
          <a:solidFill>
            <a:srgbClr val="0E1C30"/>
          </a:solidFill>
          <a:ln w="25400">
            <a:solidFill>
              <a:srgbClr val="00AD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00ADB5"/>
                </a:solidFill>
              </a:defRPr>
            </a:pPr>
            <a:r>
              <a:t>STEP 1</a:t>
            </a:r>
          </a:p>
          <a:p>
            <a:pPr algn="ctr">
              <a:defRPr sz="1400" b="1">
                <a:solidFill>
                  <a:srgbClr val="F1F5F9"/>
                </a:solidFill>
              </a:defRPr>
            </a:pPr>
            <a:r>
              <a:t>1. OCR &amp; MRZ</a:t>
            </a:r>
          </a:p>
          <a:p>
            <a:br/>
            <a:pPr algn="ctr">
              <a:defRPr sz="1100">
                <a:solidFill>
                  <a:srgbClr val="94A3B8"/>
                </a:solidFill>
              </a:defRPr>
            </a:pPr>
            <a:r>
              <a:t>ICAO Doc 9303 MRZ</a:t>
            </a:r>
            <a:br/>
            <a:r>
              <a:t>+ Text Extraction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276856" y="2103120"/>
            <a:ext cx="1417320" cy="3474720"/>
          </a:xfrm>
          <a:prstGeom prst="roundRect">
            <a:avLst/>
          </a:prstGeom>
          <a:solidFill>
            <a:srgbClr val="0E1C30"/>
          </a:solidFill>
          <a:ln w="25400">
            <a:solidFill>
              <a:srgbClr val="00AD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00ADB5"/>
                </a:solidFill>
              </a:defRPr>
            </a:pPr>
            <a:r>
              <a:t>STEP 2</a:t>
            </a:r>
          </a:p>
          <a:p>
            <a:pPr algn="ctr">
              <a:defRPr sz="1400" b="1">
                <a:solidFill>
                  <a:srgbClr val="F1F5F9"/>
                </a:solidFill>
              </a:defRPr>
            </a:pPr>
            <a:r>
              <a:t>2. Checksums</a:t>
            </a:r>
          </a:p>
          <a:p>
            <a:br/>
            <a:pPr algn="ctr">
              <a:defRPr sz="1100">
                <a:solidFill>
                  <a:srgbClr val="94A3B8"/>
                </a:solidFill>
              </a:defRPr>
            </a:pPr>
            <a:r>
              <a:t>Verhoeff D5 Math</a:t>
            </a:r>
            <a:br/>
            <a:r>
              <a:t>+ ICAO 7-3-1 checks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822192" y="2103120"/>
            <a:ext cx="1417320" cy="3474720"/>
          </a:xfrm>
          <a:prstGeom prst="roundRect">
            <a:avLst/>
          </a:prstGeom>
          <a:solidFill>
            <a:srgbClr val="0E1C30"/>
          </a:solidFill>
          <a:ln w="25400">
            <a:solidFill>
              <a:srgbClr val="00AD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00ADB5"/>
                </a:solidFill>
              </a:defRPr>
            </a:pPr>
            <a:r>
              <a:t>STEP 3</a:t>
            </a:r>
          </a:p>
          <a:p>
            <a:pPr algn="ctr">
              <a:defRPr sz="1400" b="1">
                <a:solidFill>
                  <a:srgbClr val="F1F5F9"/>
                </a:solidFill>
              </a:defRPr>
            </a:pPr>
            <a:r>
              <a:t>3. Rules Check</a:t>
            </a:r>
          </a:p>
          <a:p>
            <a:br/>
            <a:pPr algn="ctr">
              <a:defRPr sz="1100">
                <a:solidFill>
                  <a:srgbClr val="94A3B8"/>
                </a:solidFill>
              </a:defRPr>
            </a:pPr>
            <a:r>
              <a:t>Expiry Date &amp;</a:t>
            </a:r>
            <a:br/>
            <a:r>
              <a:t>Border 6-Month Rule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367528" y="2103120"/>
            <a:ext cx="1417320" cy="3474720"/>
          </a:xfrm>
          <a:prstGeom prst="roundRect">
            <a:avLst/>
          </a:prstGeom>
          <a:solidFill>
            <a:srgbClr val="0E1C30"/>
          </a:solidFill>
          <a:ln w="25400">
            <a:solidFill>
              <a:srgbClr val="00F5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00F5D4"/>
                </a:solidFill>
              </a:defRPr>
            </a:pPr>
            <a:r>
              <a:t>STEP 4</a:t>
            </a:r>
          </a:p>
          <a:p>
            <a:pPr algn="ctr">
              <a:defRPr sz="1400" b="1">
                <a:solidFill>
                  <a:srgbClr val="F1F5F9"/>
                </a:solidFill>
              </a:defRPr>
            </a:pPr>
            <a:r>
              <a:t>4. Forensics</a:t>
            </a:r>
          </a:p>
          <a:p>
            <a:br/>
            <a:pPr algn="ctr">
              <a:defRPr sz="1100">
                <a:solidFill>
                  <a:srgbClr val="94A3B8"/>
                </a:solidFill>
              </a:defRPr>
            </a:pPr>
            <a:r>
              <a:t>ELA Heatmap &amp;</a:t>
            </a:r>
            <a:br/>
            <a:r>
              <a:t>Photo Splice Ratio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912864" y="2103120"/>
            <a:ext cx="1417320" cy="3474720"/>
          </a:xfrm>
          <a:prstGeom prst="roundRect">
            <a:avLst/>
          </a:prstGeom>
          <a:solidFill>
            <a:srgbClr val="0E1C30"/>
          </a:solidFill>
          <a:ln w="25400">
            <a:solidFill>
              <a:srgbClr val="00F5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00F5D4"/>
                </a:solidFill>
              </a:defRPr>
            </a:pPr>
            <a:r>
              <a:t>STEP 5</a:t>
            </a:r>
          </a:p>
          <a:p>
            <a:pPr algn="ctr">
              <a:defRPr sz="1400" b="1">
                <a:solidFill>
                  <a:srgbClr val="F1F5F9"/>
                </a:solidFill>
              </a:defRPr>
            </a:pPr>
            <a:r>
              <a:t>5. Metadata</a:t>
            </a:r>
          </a:p>
          <a:p>
            <a:br/>
            <a:pPr algn="ctr">
              <a:defRPr sz="1100">
                <a:solidFill>
                  <a:srgbClr val="94A3B8"/>
                </a:solidFill>
              </a:defRPr>
            </a:pPr>
            <a:r>
              <a:t>EXIF Audit &amp;</a:t>
            </a:r>
            <a:br/>
            <a:r>
              <a:t>Photoshop Traces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458200" y="2103120"/>
            <a:ext cx="1417320" cy="3474720"/>
          </a:xfrm>
          <a:prstGeom prst="roundRect">
            <a:avLst/>
          </a:prstGeom>
          <a:solidFill>
            <a:srgbClr val="0E1C30"/>
          </a:solidFill>
          <a:ln w="254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10B981"/>
                </a:solidFill>
              </a:defRPr>
            </a:pPr>
            <a:r>
              <a:t>STEP 6</a:t>
            </a:r>
          </a:p>
          <a:p>
            <a:pPr algn="ctr">
              <a:defRPr sz="1400" b="1">
                <a:solidFill>
                  <a:srgbClr val="F1F5F9"/>
                </a:solidFill>
              </a:defRPr>
            </a:pPr>
            <a:r>
              <a:t>6. Face Match</a:t>
            </a:r>
          </a:p>
          <a:p>
            <a:br/>
            <a:pPr algn="ctr">
              <a:defRPr sz="1100">
                <a:solidFill>
                  <a:srgbClr val="94A3B8"/>
                </a:solidFill>
              </a:defRPr>
            </a:pPr>
            <a:r>
              <a:t>1:1 Biometric Match</a:t>
            </a:r>
            <a:br/>
            <a:r>
              <a:t>(Doc vs Live Photo)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0003536" y="2103120"/>
            <a:ext cx="1417320" cy="3474720"/>
          </a:xfrm>
          <a:prstGeom prst="roundRect">
            <a:avLst/>
          </a:prstGeom>
          <a:solidFill>
            <a:srgbClr val="0E1C30"/>
          </a:solidFill>
          <a:ln w="254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10B981"/>
                </a:solidFill>
              </a:defRPr>
            </a:pPr>
            <a:r>
              <a:t>STEP 7</a:t>
            </a:r>
          </a:p>
          <a:p>
            <a:pPr algn="ctr">
              <a:defRPr sz="1400" b="1">
                <a:solidFill>
                  <a:srgbClr val="F1F5F9"/>
                </a:solidFill>
              </a:defRPr>
            </a:pPr>
            <a:r>
              <a:t>7. Risk Score</a:t>
            </a:r>
          </a:p>
          <a:p>
            <a:br/>
            <a:pPr algn="ctr">
              <a:defRPr sz="1100">
                <a:solidFill>
                  <a:srgbClr val="94A3B8"/>
                </a:solidFill>
              </a:defRPr>
            </a:pPr>
            <a:r>
              <a:t>0-100 Score &amp;</a:t>
            </a:r>
            <a:br/>
            <a:r>
              <a:t>Final Verdict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5760720"/>
            <a:ext cx="1072865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 b="1">
                <a:solidFill>
                  <a:srgbClr val="00F5D4"/>
                </a:solidFill>
              </a:defRPr>
            </a:pPr>
            <a:r>
              <a:t>⚡ End-to-End Latency: &lt; 1.8 seconds per traveler | Runs 100% locally without cloud dependency.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322"/>
          </a:solidFill>
          <a:ln>
            <a:solidFill>
              <a:srgbClr val="0A13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457200"/>
            <a:ext cx="10728655" cy="54864"/>
          </a:xfrm>
          <a:prstGeom prst="rect">
            <a:avLst/>
          </a:prstGeom>
          <a:solidFill>
            <a:srgbClr val="00ADB5"/>
          </a:solidFill>
          <a:ln>
            <a:solidFill>
              <a:srgbClr val="00AD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594360"/>
            <a:ext cx="1072865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0ADB5"/>
                </a:solidFill>
              </a:defRPr>
            </a:pPr>
            <a:r>
              <a:t>SIH26188 • MINISTRY OF HOME AFFAIRS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868680"/>
            <a:ext cx="10728655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F1F5F9"/>
                </a:solidFill>
              </a:defRPr>
            </a:pPr>
            <a:r>
              <a:t>Module 1 &amp; 2: OCR, MRZ &amp; Mathematical Validation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37360"/>
            <a:ext cx="5120640" cy="4389120"/>
          </a:xfrm>
          <a:prstGeom prst="roundRect">
            <a:avLst/>
          </a:prstGeom>
          <a:solidFill>
            <a:srgbClr val="0E1C30"/>
          </a:solidFill>
          <a:ln>
            <a:solidFill>
              <a:srgbClr val="00AD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700" b="1">
                <a:solidFill>
                  <a:srgbClr val="00F5D4"/>
                </a:solidFill>
              </a:defRPr>
            </a:pPr>
            <a:r>
              <a:t>Module 1: ICAO Doc 9303 MRZ Engine</a:t>
            </a:r>
          </a:p>
          <a:p>
            <a:pPr>
              <a:defRPr b="1" sz="1200">
                <a:solidFill>
                  <a:srgbClr val="F1F5F9"/>
                </a:solidFill>
              </a:defRPr>
            </a:pPr>
            <a:r>
              <a:t>✓ Universal Document Support: 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   Extracts structured fields from Passports, Visas, Aadhaar, PAN, Driving Licenses, and Travel Permits.</a:t>
            </a:r>
          </a:p>
          <a:p>
            <a:pPr>
              <a:defRPr b="1" sz="1200">
                <a:solidFill>
                  <a:srgbClr val="F1F5F9"/>
                </a:solidFill>
              </a:defRPr>
            </a:pPr>
            <a:r>
              <a:t>✓ ICAO TD3 &amp; TD1 Parser: 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   Decodes 2-line 44-char passport MRZ and 3-line 30-char national ID MRZ zones.</a:t>
            </a:r>
          </a:p>
          <a:p>
            <a:pPr>
              <a:defRPr b="1" sz="1200">
                <a:solidFill>
                  <a:srgbClr val="F1F5F9"/>
                </a:solidFill>
              </a:defRPr>
            </a:pPr>
            <a:r>
              <a:t>✓ Cyclic 7-3-1 Weighting Checksums: 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   Calculates modular check digits on Passport No, Birth Date, and Expiry Date.</a:t>
            </a:r>
          </a:p>
          <a:p>
            <a:pPr>
              <a:defRPr b="1" sz="1200">
                <a:solidFill>
                  <a:srgbClr val="F1F5F9"/>
                </a:solidFill>
              </a:defRPr>
            </a:pPr>
            <a:r>
              <a:t>✓ Mathematical Tamper Detection: 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   Counterfeit numbers created without the exact ICAO checksum algorithm fail mathematically with 100% certainty.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737360"/>
            <a:ext cx="5212080" cy="4389120"/>
          </a:xfrm>
          <a:prstGeom prst="roundRect">
            <a:avLst/>
          </a:prstGeom>
          <a:solidFill>
            <a:srgbClr val="0E1C30"/>
          </a:solidFill>
          <a:ln>
            <a:solidFill>
              <a:srgbClr val="00AD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700" b="1">
                <a:solidFill>
                  <a:srgbClr val="00F5D4"/>
                </a:solidFill>
              </a:defRPr>
            </a:pPr>
            <a:r>
              <a:t>Module 2: Regulatory &amp; Checksum Rules</a:t>
            </a:r>
          </a:p>
          <a:p>
            <a:pPr>
              <a:defRPr b="1" sz="1200">
                <a:solidFill>
                  <a:srgbClr val="F1F5F9"/>
                </a:solidFill>
              </a:defRPr>
            </a:pPr>
            <a:r>
              <a:t>✓ UIDAI Verhoeff D5 Algorithm: 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   Implements dihedral group D5 permutation matrix used by UIDAI. Catches 100% of single-digit and transposition errors in 12-digit Aadhaar.</a:t>
            </a:r>
          </a:p>
          <a:p>
            <a:pPr>
              <a:defRPr b="1" sz="1200">
                <a:solidFill>
                  <a:srgbClr val="F1F5F9"/>
                </a:solidFill>
              </a:defRPr>
            </a:pPr>
            <a:r>
              <a:t>✓ PAN Entity Code Syntax: 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   Validates 4th entity code ('P' for Individual, 'C' for Company, 'F' for Firm) and ITD format structure.</a:t>
            </a:r>
          </a:p>
          <a:p>
            <a:pPr>
              <a:defRPr b="1" sz="1200">
                <a:solidFill>
                  <a:srgbClr val="F1F5F9"/>
                </a:solidFill>
              </a:defRPr>
            </a:pPr>
            <a:r>
              <a:t>✓ Expiry &amp; 6-Month Border Rule: 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   Checks validity window and warns when a passport has less than 180 days validity remaining for international transit.</a:t>
            </a:r>
          </a:p>
          <a:p>
            <a:pPr>
              <a:defRPr b="1" sz="1200">
                <a:solidFill>
                  <a:srgbClr val="F1F5F9"/>
                </a:solidFill>
              </a:defRPr>
            </a:pPr>
            <a:r>
              <a:t>✓ Status Checklist Badges: 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   Every single check produces an itemized legal audit trail: ✓ Valid, ⚠ Warning, or ✕ Invalid.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322"/>
          </a:solidFill>
          <a:ln>
            <a:solidFill>
              <a:srgbClr val="0A13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457200"/>
            <a:ext cx="10728655" cy="54864"/>
          </a:xfrm>
          <a:prstGeom prst="rect">
            <a:avLst/>
          </a:prstGeom>
          <a:solidFill>
            <a:srgbClr val="00ADB5"/>
          </a:solidFill>
          <a:ln>
            <a:solidFill>
              <a:srgbClr val="00AD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594360"/>
            <a:ext cx="1072865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0ADB5"/>
                </a:solidFill>
              </a:defRPr>
            </a:pPr>
            <a:r>
              <a:t>SIH26188 • MINISTRY OF HOME AFFAIRS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868680"/>
            <a:ext cx="10728655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F1F5F9"/>
                </a:solidFill>
              </a:defRPr>
            </a:pPr>
            <a:r>
              <a:t>Module 3: Tampering Detection (Core AI Innovation)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37360"/>
            <a:ext cx="5212080" cy="1920240"/>
          </a:xfrm>
          <a:prstGeom prst="roundRect">
            <a:avLst/>
          </a:prstGeom>
          <a:solidFill>
            <a:srgbClr val="0E1C30"/>
          </a:solidFill>
          <a:ln w="25400">
            <a:solidFill>
              <a:srgbClr val="00AD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00ADB5"/>
                </a:solidFill>
              </a:defRPr>
            </a:pPr>
            <a:r>
              <a:t>1. Error Level Analysis (ELA)</a:t>
            </a:r>
          </a:p>
          <a:p>
            <a:br/>
            <a:pPr>
              <a:defRPr sz="1100">
                <a:solidFill>
                  <a:srgbClr val="94A3B8"/>
                </a:solidFill>
              </a:defRPr>
            </a:pPr>
            <a:r>
              <a:t>Resaves document at 90% JPEG quality to measure recompression difference. Edited patches and pasted fonts display elevated error, visualized as a colorized JET heatmap.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737360"/>
            <a:ext cx="5212080" cy="1920240"/>
          </a:xfrm>
          <a:prstGeom prst="roundRect">
            <a:avLst/>
          </a:prstGeom>
          <a:solidFill>
            <a:srgbClr val="0E1C30"/>
          </a:solidFill>
          <a:ln w="25400">
            <a:solidFill>
              <a:srgbClr val="EF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EF4444"/>
                </a:solidFill>
              </a:defRPr>
            </a:pPr>
            <a:r>
              <a:t>2. Photo Splice Detection</a:t>
            </a:r>
          </a:p>
          <a:p>
            <a:br/>
            <a:pPr>
              <a:defRPr sz="1100">
                <a:solidFill>
                  <a:srgbClr val="94A3B8"/>
                </a:solidFill>
              </a:defRPr>
            </a:pPr>
            <a:r>
              <a:t>Measures compression delta ratio between the facial portrait ROI and the card background. Pasted headshots exhibit sharp compression discontinuity (&gt; 2.0x ratio).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3931920"/>
            <a:ext cx="5212080" cy="1920240"/>
          </a:xfrm>
          <a:prstGeom prst="roundRect">
            <a:avLst/>
          </a:prstGeom>
          <a:solidFill>
            <a:srgbClr val="0E1C30"/>
          </a:solidFill>
          <a:ln w="2540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F59E0B"/>
                </a:solidFill>
              </a:defRPr>
            </a:pPr>
            <a:r>
              <a:t>3. Border Stamp Forgery</a:t>
            </a:r>
          </a:p>
          <a:p>
            <a:br/>
            <a:pPr>
              <a:defRPr sz="1100">
                <a:solidFill>
                  <a:srgbClr val="94A3B8"/>
                </a:solidFill>
              </a:defRPr>
            </a:pPr>
            <a:r>
              <a:t>Evaluates immigration entry stamps for physical ink bleed and substrate absorption. Flat digital vector paste is flagged via high edge Laplacian variance.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3931920"/>
            <a:ext cx="5212080" cy="1920240"/>
          </a:xfrm>
          <a:prstGeom prst="roundRect">
            <a:avLst/>
          </a:prstGeom>
          <a:solidFill>
            <a:srgbClr val="0E1C30"/>
          </a:solidFill>
          <a:ln w="254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10B981"/>
                </a:solidFill>
              </a:defRPr>
            </a:pPr>
            <a:r>
              <a:t>4. EXIF Metadata Forensics</a:t>
            </a:r>
          </a:p>
          <a:p>
            <a:br/>
            <a:pPr>
              <a:defRPr sz="1100">
                <a:solidFill>
                  <a:srgbClr val="94A3B8"/>
                </a:solidFill>
              </a:defRPr>
            </a:pPr>
            <a:r>
              <a:t>Inspects image header markers for software editing traces (Adobe Photoshop, Canva, GIMP, Snapseed) and creation vs modification timestamp mismatches.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322"/>
          </a:solidFill>
          <a:ln>
            <a:solidFill>
              <a:srgbClr val="0A13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457200"/>
            <a:ext cx="10728655" cy="54864"/>
          </a:xfrm>
          <a:prstGeom prst="rect">
            <a:avLst/>
          </a:prstGeom>
          <a:solidFill>
            <a:srgbClr val="00ADB5"/>
          </a:solidFill>
          <a:ln>
            <a:solidFill>
              <a:srgbClr val="00AD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594360"/>
            <a:ext cx="1072865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0ADB5"/>
                </a:solidFill>
              </a:defRPr>
            </a:pPr>
            <a:r>
              <a:t>SIH26188 • MINISTRY OF HOME AFFAIRS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868680"/>
            <a:ext cx="10728655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F1F5F9"/>
                </a:solidFill>
              </a:defRPr>
            </a:pPr>
            <a:r>
              <a:t>Module 4: 1:1 Biometric Face Verification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37360"/>
            <a:ext cx="5120640" cy="4389120"/>
          </a:xfrm>
          <a:prstGeom prst="roundRect">
            <a:avLst/>
          </a:prstGeom>
          <a:solidFill>
            <a:srgbClr val="0E1C30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700" b="1">
                <a:solidFill>
                  <a:srgbClr val="10B981"/>
                </a:solidFill>
              </a:defRPr>
            </a:pPr>
            <a:r>
              <a:t>Biometric Comparison Methodology</a:t>
            </a:r>
          </a:p>
          <a:p>
            <a:pPr>
              <a:defRPr b="1" sz="1200">
                <a:solidFill>
                  <a:srgbClr val="F1F5F9"/>
                </a:solidFill>
              </a:defRPr>
            </a:pPr>
            <a:r>
              <a:t>👤 Automated Portrait Cropping: 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   Computer-vision skin-chrominance (YCrCb) &amp; anthropometric contour detector isolates facial portrait from document automatically.</a:t>
            </a:r>
          </a:p>
          <a:p>
            <a:pPr>
              <a:defRPr b="1" sz="1200">
                <a:solidFill>
                  <a:srgbClr val="F1F5F9"/>
                </a:solidFill>
              </a:defRPr>
            </a:pPr>
            <a:r>
              <a:t>👤 Multi-Modal Live Input: 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   Accepts uploaded live photo or captures live passenger snapshot directly from checkpoint webcam via WebRTC.</a:t>
            </a:r>
          </a:p>
          <a:p>
            <a:pPr>
              <a:defRPr b="1" sz="1200">
                <a:solidFill>
                  <a:srgbClr val="F1F5F9"/>
                </a:solidFill>
              </a:defRPr>
            </a:pPr>
            <a:r>
              <a:t>👤 HSV Color Histogram Correlation: 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   Measures skin chrominance, lighting balance, and pigment distribution across normalized color space.</a:t>
            </a:r>
          </a:p>
          <a:p>
            <a:pPr>
              <a:defRPr b="1" sz="1200">
                <a:solidFill>
                  <a:srgbClr val="F1F5F9"/>
                </a:solidFill>
              </a:defRPr>
            </a:pPr>
            <a:r>
              <a:t>👤 Structural Gradient &amp; Template Match: 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   Computes normalized cross-correlation and Sobel edge continuity between aligned 160x160 face crops.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737360"/>
            <a:ext cx="5212080" cy="4389120"/>
          </a:xfrm>
          <a:prstGeom prst="roundRect">
            <a:avLst/>
          </a:prstGeom>
          <a:solidFill>
            <a:srgbClr val="0E1C30"/>
          </a:solidFill>
          <a:ln>
            <a:solidFill>
              <a:srgbClr val="00AD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700" b="1">
                <a:solidFill>
                  <a:srgbClr val="00F5D4"/>
                </a:solidFill>
              </a:defRPr>
            </a:pPr>
            <a:r>
              <a:t>Decision Thresholds &amp; Calibrated Output</a:t>
            </a:r>
          </a:p>
          <a:p>
            <a:pPr>
              <a:defRPr b="1" sz="1200">
                <a:solidFill>
                  <a:srgbClr val="F1F5F9"/>
                </a:solidFill>
              </a:defRPr>
            </a:pPr>
            <a:r>
              <a:t>• Match Confirmed (≥ 70%): 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   Clear 1:1 match. Document photo corresponds to presented individual (adds 0 risk points).</a:t>
            </a:r>
          </a:p>
          <a:p>
            <a:pPr>
              <a:defRPr b="1" sz="1200">
                <a:solidFill>
                  <a:srgbClr val="F1F5F9"/>
                </a:solidFill>
              </a:defRPr>
            </a:pPr>
            <a:r>
              <a:t>• Possible Mismatch (48%–69%): 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   Borderline similarity. Flags warning for security officer physical inspection (adds +18 risk points).</a:t>
            </a:r>
          </a:p>
          <a:p>
            <a:pPr>
              <a:defRPr b="1" sz="1200">
                <a:solidFill>
                  <a:srgbClr val="F1F5F9"/>
                </a:solidFill>
              </a:defRPr>
            </a:pPr>
            <a:r>
              <a:t>• Biometric Mismatch (&lt; 48%): 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   Severe facial discrepancy. Critical security alert for suspected identity impersonation (adds +35 risk points).</a:t>
            </a:r>
          </a:p>
          <a:p>
            <a:pPr>
              <a:defRPr b="1" sz="1200">
                <a:solidFill>
                  <a:srgbClr val="F1F5F9"/>
                </a:solidFill>
              </a:defRPr>
            </a:pPr>
            <a:r>
              <a:t>• Visual Audit Previews: 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   Renders document face crop side-by-side with live passenger face crop directly on the dashboard.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322"/>
          </a:solidFill>
          <a:ln>
            <a:solidFill>
              <a:srgbClr val="0A13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457200"/>
            <a:ext cx="10728655" cy="54864"/>
          </a:xfrm>
          <a:prstGeom prst="rect">
            <a:avLst/>
          </a:prstGeom>
          <a:solidFill>
            <a:srgbClr val="00ADB5"/>
          </a:solidFill>
          <a:ln>
            <a:solidFill>
              <a:srgbClr val="00AD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594360"/>
            <a:ext cx="1072865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0ADB5"/>
                </a:solidFill>
              </a:defRPr>
            </a:pPr>
            <a:r>
              <a:t>SIH26188 • MINISTRY OF HOME AFFAIRS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868680"/>
            <a:ext cx="10728655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F1F5F9"/>
                </a:solidFill>
              </a:defRPr>
            </a:pPr>
            <a:r>
              <a:t>Dynamic Risk Assessment Engine &amp; Transparent Scoring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37360"/>
            <a:ext cx="4114800" cy="4389120"/>
          </a:xfrm>
          <a:prstGeom prst="roundRect">
            <a:avLst/>
          </a:prstGeom>
          <a:solidFill>
            <a:srgbClr val="0E1C30"/>
          </a:solidFill>
          <a:ln>
            <a:solidFill>
              <a:srgbClr val="00AD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00F5D4"/>
                </a:solidFill>
              </a:defRPr>
            </a:pPr>
            <a:r>
              <a:t>Calibrated Risk Tiers</a:t>
            </a:r>
          </a:p>
          <a:p>
            <a:br/>
            <a:pPr>
              <a:defRPr b="1" sz="1300">
                <a:solidFill>
                  <a:srgbClr val="10B981"/>
                </a:solidFill>
              </a:defRPr>
            </a:pPr>
            <a:r>
              <a:t>LOW RISK (0–29)</a:t>
            </a:r>
          </a:p>
          <a:p>
            <a:pPr>
              <a:defRPr sz="1100" b="1">
                <a:solidFill>
                  <a:srgbClr val="F1F5F9"/>
                </a:solidFill>
              </a:defRPr>
            </a:pPr>
            <a:r>
              <a:t>Verdict: VERIFIED / LOW RISK</a:t>
            </a:r>
          </a:p>
          <a:p>
            <a:pPr>
              <a:defRPr sz="1000">
                <a:solidFill>
                  <a:srgbClr val="94A3B8"/>
                </a:solidFill>
              </a:defRPr>
            </a:pPr>
            <a:r>
              <a:t>Clear for transit. All layers verified authentic.</a:t>
            </a:r>
          </a:p>
          <a:p>
            <a:br/>
            <a:pPr>
              <a:defRPr b="1" sz="1300">
                <a:solidFill>
                  <a:srgbClr val="F59E0B"/>
                </a:solidFill>
              </a:defRPr>
            </a:pPr>
            <a:r>
              <a:t>MEDIUM RISK (30–59)</a:t>
            </a:r>
          </a:p>
          <a:p>
            <a:pPr>
              <a:defRPr sz="1100" b="1">
                <a:solidFill>
                  <a:srgbClr val="F1F5F9"/>
                </a:solidFill>
              </a:defRPr>
            </a:pPr>
            <a:r>
              <a:t>Verdict: NEEDS MANUAL REVIEW</a:t>
            </a:r>
          </a:p>
          <a:p>
            <a:pPr>
              <a:defRPr sz="1000">
                <a:solidFill>
                  <a:srgbClr val="94A3B8"/>
                </a:solidFill>
              </a:defRPr>
            </a:pPr>
            <a:r>
              <a:t>Secondary physical inspection recommended.</a:t>
            </a:r>
          </a:p>
          <a:p>
            <a:br/>
            <a:pPr>
              <a:defRPr b="1" sz="1300">
                <a:solidFill>
                  <a:srgbClr val="EF4444"/>
                </a:solidFill>
              </a:defRPr>
            </a:pPr>
            <a:r>
              <a:t>HIGH RISK (60–79)</a:t>
            </a:r>
          </a:p>
          <a:p>
            <a:pPr>
              <a:defRPr sz="1100" b="1">
                <a:solidFill>
                  <a:srgbClr val="F1F5F9"/>
                </a:solidFill>
              </a:defRPr>
            </a:pPr>
            <a:r>
              <a:t>Verdict: HIGH RISK / SUSPICIOUS</a:t>
            </a:r>
          </a:p>
          <a:p>
            <a:pPr>
              <a:defRPr sz="1000">
                <a:solidFill>
                  <a:srgbClr val="94A3B8"/>
                </a:solidFill>
              </a:defRPr>
            </a:pPr>
            <a:r>
              <a:t>High security violation alert. Supervisor review.</a:t>
            </a:r>
          </a:p>
          <a:p>
            <a:br/>
            <a:pPr>
              <a:defRPr b="1" sz="1300">
                <a:solidFill>
                  <a:srgbClr val="EF4444"/>
                </a:solidFill>
              </a:defRPr>
            </a:pPr>
            <a:r>
              <a:t>CRITICAL (80–100)</a:t>
            </a:r>
          </a:p>
          <a:p>
            <a:pPr>
              <a:defRPr sz="1100" b="1">
                <a:solidFill>
                  <a:srgbClr val="F1F5F9"/>
                </a:solidFill>
              </a:defRPr>
            </a:pPr>
            <a:r>
              <a:t>Verdict: HIGH RISK / SUSPICIOUS</a:t>
            </a:r>
          </a:p>
          <a:p>
            <a:pPr>
              <a:defRPr sz="1000">
                <a:solidFill>
                  <a:srgbClr val="94A3B8"/>
                </a:solidFill>
              </a:defRPr>
            </a:pPr>
            <a:r>
              <a:t>Critical breach: Counterfeit, splice, or watchlist hit.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212080" y="1737360"/>
            <a:ext cx="6217920" cy="4389120"/>
          </a:xfrm>
          <a:prstGeom prst="roundRect">
            <a:avLst/>
          </a:prstGeom>
          <a:solidFill>
            <a:srgbClr val="0E1C30"/>
          </a:solidFill>
          <a:ln>
            <a:solidFill>
              <a:srgbClr val="00AD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00F5D4"/>
                </a:solidFill>
              </a:defRPr>
            </a:pPr>
            <a:r>
              <a:t>Transparent Contributing Risk Factors (+Points)</a:t>
            </a:r>
          </a:p>
          <a:p>
            <a:pPr>
              <a:defRPr sz="1200">
                <a:solidFill>
                  <a:srgbClr val="F1F5F9"/>
                </a:solidFill>
              </a:defRPr>
            </a:pPr>
            <a:r>
              <a:t>• Mock Watchlist Hit (Interpol Notice / Stolen): </a:t>
            </a:r>
          </a:p>
          <a:p>
            <a:pPr>
              <a:defRPr sz="1100" b="1">
                <a:solidFill>
                  <a:srgbClr val="EF4444"/>
                </a:solidFill>
              </a:defRPr>
            </a:pPr>
            <a:r>
              <a:t>   Weight: +45 Points</a:t>
            </a:r>
          </a:p>
          <a:p>
            <a:pPr>
              <a:defRPr sz="1200">
                <a:solidFill>
                  <a:srgbClr val="F1F5F9"/>
                </a:solidFill>
              </a:defRPr>
            </a:pPr>
            <a:r>
              <a:t>• Photo Replacement / Facial ROI Splice: </a:t>
            </a:r>
          </a:p>
          <a:p>
            <a:pPr>
              <a:defRPr sz="1100" b="1">
                <a:solidFill>
                  <a:srgbClr val="EF4444"/>
                </a:solidFill>
              </a:defRPr>
            </a:pPr>
            <a:r>
              <a:t>   Weight: +35 Points</a:t>
            </a:r>
          </a:p>
          <a:p>
            <a:pPr>
              <a:defRPr sz="1200">
                <a:solidFill>
                  <a:srgbClr val="F1F5F9"/>
                </a:solidFill>
              </a:defRPr>
            </a:pPr>
            <a:r>
              <a:t>• Biometric Face Mismatch (Impersonation): </a:t>
            </a:r>
          </a:p>
          <a:p>
            <a:pPr>
              <a:defRPr sz="1100" b="1">
                <a:solidFill>
                  <a:srgbClr val="EF4444"/>
                </a:solidFill>
              </a:defRPr>
            </a:pPr>
            <a:r>
              <a:t>   Weight: +35 Points</a:t>
            </a:r>
          </a:p>
          <a:p>
            <a:pPr>
              <a:defRPr sz="1200">
                <a:solidFill>
                  <a:srgbClr val="F1F5F9"/>
                </a:solidFill>
              </a:defRPr>
            </a:pPr>
            <a:r>
              <a:t>• Document Validity Expired: </a:t>
            </a:r>
          </a:p>
          <a:p>
            <a:pPr>
              <a:defRPr sz="1100" b="1">
                <a:solidFill>
                  <a:srgbClr val="EF4444"/>
                </a:solidFill>
              </a:defRPr>
            </a:pPr>
            <a:r>
              <a:t>   Weight: +30 Points</a:t>
            </a:r>
          </a:p>
          <a:p>
            <a:pPr>
              <a:defRPr sz="1200">
                <a:solidFill>
                  <a:srgbClr val="F1F5F9"/>
                </a:solidFill>
              </a:defRPr>
            </a:pPr>
            <a:r>
              <a:t>• Editing Software Signature (Photoshop/Canva): </a:t>
            </a:r>
          </a:p>
          <a:p>
            <a:pPr>
              <a:defRPr sz="1100" b="1">
                <a:solidFill>
                  <a:srgbClr val="F59E0B"/>
                </a:solidFill>
              </a:defRPr>
            </a:pPr>
            <a:r>
              <a:t>   Weight: +25 Points</a:t>
            </a:r>
          </a:p>
          <a:p>
            <a:pPr>
              <a:defRPr sz="1200">
                <a:solidFill>
                  <a:srgbClr val="F1F5F9"/>
                </a:solidFill>
              </a:defRPr>
            </a:pPr>
            <a:r>
              <a:t>• ICAO / Verhoeff Checksum Failure: </a:t>
            </a:r>
          </a:p>
          <a:p>
            <a:pPr>
              <a:defRPr sz="1100" b="1">
                <a:solidFill>
                  <a:srgbClr val="F59E0B"/>
                </a:solidFill>
              </a:defRPr>
            </a:pPr>
            <a:r>
              <a:t>   Weight: +25 Points</a:t>
            </a:r>
          </a:p>
          <a:p>
            <a:pPr>
              <a:defRPr sz="1200">
                <a:solidFill>
                  <a:srgbClr val="F1F5F9"/>
                </a:solidFill>
              </a:defRPr>
            </a:pPr>
            <a:r>
              <a:t>• Suspect Border Stamp (Digital Paste): </a:t>
            </a:r>
          </a:p>
          <a:p>
            <a:pPr>
              <a:defRPr sz="1100" b="1">
                <a:solidFill>
                  <a:srgbClr val="F59E0B"/>
                </a:solidFill>
              </a:defRPr>
            </a:pPr>
            <a:r>
              <a:t>   Weight: +15 Points</a:t>
            </a:r>
          </a:p>
          <a:p>
            <a:pPr>
              <a:defRPr sz="1200">
                <a:solidFill>
                  <a:srgbClr val="F1F5F9"/>
                </a:solidFill>
              </a:defRPr>
            </a:pPr>
            <a:r>
              <a:t>• Missing Mandatory Identity Fields: </a:t>
            </a:r>
          </a:p>
          <a:p>
            <a:pPr>
              <a:defRPr sz="1100" b="1">
                <a:solidFill>
                  <a:srgbClr val="94A3B8"/>
                </a:solidFill>
              </a:defRPr>
            </a:pPr>
            <a:r>
              <a:t>   Weight: +10 Points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322"/>
          </a:solidFill>
          <a:ln>
            <a:solidFill>
              <a:srgbClr val="0A13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457200"/>
            <a:ext cx="10728655" cy="54864"/>
          </a:xfrm>
          <a:prstGeom prst="rect">
            <a:avLst/>
          </a:prstGeom>
          <a:solidFill>
            <a:srgbClr val="00ADB5"/>
          </a:solidFill>
          <a:ln>
            <a:solidFill>
              <a:srgbClr val="00AD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594360"/>
            <a:ext cx="1072865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0ADB5"/>
                </a:solidFill>
              </a:defRPr>
            </a:pPr>
            <a:r>
              <a:t>SIH26188 • MINISTRY OF HOME AFFAIRS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868680"/>
            <a:ext cx="10728655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F1F5F9"/>
                </a:solidFill>
              </a:defRPr>
            </a:pPr>
            <a:r>
              <a:t>Mock Verification Database &amp; SQLite Audit Trail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37360"/>
            <a:ext cx="5120640" cy="4389120"/>
          </a:xfrm>
          <a:prstGeom prst="roundRect">
            <a:avLst/>
          </a:prstGeom>
          <a:solidFill>
            <a:srgbClr val="0E1C30"/>
          </a:solidFill>
          <a:ln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700" b="1">
                <a:solidFill>
                  <a:srgbClr val="F59E0B"/>
                </a:solidFill>
              </a:defRPr>
            </a:pPr>
            <a:r>
              <a:t>Mock Border Verification Database</a:t>
            </a:r>
          </a:p>
          <a:p>
            <a:pPr>
              <a:defRPr b="1" sz="1200">
                <a:solidFill>
                  <a:srgbClr val="F1F5F9"/>
                </a:solidFill>
              </a:defRPr>
            </a:pPr>
            <a:r>
              <a:t>🗄️ Simulated Border Watchlists: 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   Pre-seeded SQLite table storing mock watchlists for testing without accessing classified government databases.</a:t>
            </a:r>
          </a:p>
          <a:p>
            <a:pPr>
              <a:defRPr b="1" sz="1200">
                <a:solidFill>
                  <a:srgbClr val="F1F5F9"/>
                </a:solidFill>
              </a:defRPr>
            </a:pPr>
            <a:r>
              <a:t>🗄️ Interpol Red Notices: 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   Simulated international notices (e.g. Vikram Mehta, Passport L898902C3).</a:t>
            </a:r>
          </a:p>
          <a:p>
            <a:pPr>
              <a:defRPr b="1" sz="1200">
                <a:solidFill>
                  <a:srgbClr val="F1F5F9"/>
                </a:solidFill>
              </a:defRPr>
            </a:pPr>
            <a:r>
              <a:t>🗄️ Stolen Passport Stock (SLTD): 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   Alerts for reported lost or stolen passport series.</a:t>
            </a:r>
          </a:p>
          <a:p>
            <a:pPr>
              <a:defRPr b="1" sz="1200">
                <a:solidFill>
                  <a:srgbClr val="F1F5F9"/>
                </a:solidFill>
              </a:defRPr>
            </a:pPr>
            <a:r>
              <a:t>🗄️ Overstay &amp; Revocation Registry: 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   Flagged tourist visas with expired stay duration limits (e.g. Maria Gonzalez, Visa V9284710).</a:t>
            </a:r>
          </a:p>
          <a:p>
            <a:pPr>
              <a:defRPr b="1" sz="1200">
                <a:solidFill>
                  <a:srgbClr val="F1F5F9"/>
                </a:solidFill>
              </a:defRPr>
            </a:pPr>
            <a:r>
              <a:t>🗄️ Ethical Disclaimer: 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   Prominently labeled on every dashboard screen: 'DEMO DATA – NOT CONNECTED TO GOVERNMENT DATABASES'.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737360"/>
            <a:ext cx="5212080" cy="4389120"/>
          </a:xfrm>
          <a:prstGeom prst="roundRect">
            <a:avLst/>
          </a:prstGeom>
          <a:solidFill>
            <a:srgbClr val="0E1C30"/>
          </a:solidFill>
          <a:ln>
            <a:solidFill>
              <a:srgbClr val="00AD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700" b="1">
                <a:solidFill>
                  <a:srgbClr val="00F5D4"/>
                </a:solidFill>
              </a:defRPr>
            </a:pPr>
            <a:r>
              <a:t>Persistent SQLite Audit Trail</a:t>
            </a:r>
          </a:p>
          <a:p>
            <a:pPr>
              <a:defRPr b="1" sz="1200">
                <a:solidFill>
                  <a:srgbClr val="F1F5F9"/>
                </a:solidFill>
              </a:defRPr>
            </a:pPr>
            <a:r>
              <a:t>🕒 Immutable Screening Logs: 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   Stores every single passenger screening transaction locally with unique ID (e.g. TL-20260903-XXXX).</a:t>
            </a:r>
          </a:p>
          <a:p>
            <a:pPr>
              <a:defRPr b="1" sz="1200">
                <a:solidFill>
                  <a:srgbClr val="F1F5F9"/>
                </a:solidFill>
              </a:defRPr>
            </a:pPr>
            <a:r>
              <a:t>🕒 Full JSON Payload Preservation: 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   Retains complete OCR field matrices, ELA metrics, face match scores, and factor audit trails.</a:t>
            </a:r>
          </a:p>
          <a:p>
            <a:pPr>
              <a:defRPr b="1" sz="1200">
                <a:solidFill>
                  <a:srgbClr val="F1F5F9"/>
                </a:solidFill>
              </a:defRPr>
            </a:pPr>
            <a:r>
              <a:t>🕒 Historical Report Inspection: 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   Security supervisors can search past screenings by date, passenger name, document number, or risk tier.</a:t>
            </a:r>
          </a:p>
          <a:p>
            <a:pPr>
              <a:defRPr b="1" sz="1200">
                <a:solidFill>
                  <a:srgbClr val="F1F5F9"/>
                </a:solidFill>
              </a:defRPr>
            </a:pPr>
            <a:r>
              <a:t>🕒 Printable PDF Certificate: 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   1-click generation of formatted official Border Security Forensic Certificate for legal evidence.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322"/>
          </a:solidFill>
          <a:ln>
            <a:solidFill>
              <a:srgbClr val="0A13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457200"/>
            <a:ext cx="10728655" cy="54864"/>
          </a:xfrm>
          <a:prstGeom prst="rect">
            <a:avLst/>
          </a:prstGeom>
          <a:solidFill>
            <a:srgbClr val="00ADB5"/>
          </a:solidFill>
          <a:ln>
            <a:solidFill>
              <a:srgbClr val="00AD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594360"/>
            <a:ext cx="1072865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0ADB5"/>
                </a:solidFill>
              </a:defRPr>
            </a:pPr>
            <a:r>
              <a:t>SIH26188 • MINISTRY OF HOME AFFAIRS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868680"/>
            <a:ext cx="10728655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F1F5F9"/>
                </a:solidFill>
              </a:defRPr>
            </a:pPr>
            <a:r>
              <a:t>Live Demo Scenarios for SIH Hackathon Judges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37360"/>
            <a:ext cx="3383280" cy="4389120"/>
          </a:xfrm>
          <a:prstGeom prst="roundRect">
            <a:avLst/>
          </a:prstGeom>
          <a:solidFill>
            <a:srgbClr val="0E1C30"/>
          </a:solidFill>
          <a:ln w="254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F1F5F9"/>
                </a:solidFill>
              </a:defRPr>
            </a:pPr>
            <a:r>
              <a:t>Scenario 1: Genuine Passport + Live Match</a:t>
            </a:r>
          </a:p>
          <a:p>
            <a:pPr>
              <a:defRPr sz="1200" b="1">
                <a:solidFill>
                  <a:srgbClr val="10B981"/>
                </a:solidFill>
              </a:defRPr>
            </a:pPr>
            <a:r>
              <a:t>LOW RISK / VERIFIED (Score: 6/100)</a:t>
            </a:r>
          </a:p>
          <a:p>
            <a:pPr>
              <a:defRPr sz="1000">
                <a:solidFill>
                  <a:srgbClr val="94A3B8"/>
                </a:solidFill>
              </a:defRPr>
            </a:pPr>
            <a:r>
              <a:t>• Document: Authentic US Passport (Johnathan Doe, A89412051)</a:t>
            </a:r>
          </a:p>
          <a:p>
            <a:pPr>
              <a:defRPr sz="1000">
                <a:solidFill>
                  <a:srgbClr val="94A3B8"/>
                </a:solidFill>
              </a:defRPr>
            </a:pPr>
            <a:r>
              <a:t>• Live Photo: Matching portrait (Webcam / Live Photo)</a:t>
            </a:r>
          </a:p>
          <a:p>
            <a:pPr>
              <a:defRPr sz="1000">
                <a:solidFill>
                  <a:srgbClr val="94A3B8"/>
                </a:solidFill>
              </a:defRPr>
            </a:pPr>
            <a:r>
              <a:t>• ICAO 9303 Checksum: 100% verified (doc no, DOB, expiry)</a:t>
            </a:r>
          </a:p>
          <a:p>
            <a:pPr>
              <a:defRPr sz="1000">
                <a:solidFill>
                  <a:srgbClr val="94A3B8"/>
                </a:solidFill>
              </a:defRPr>
            </a:pPr>
            <a:r>
              <a:t>• Biometric Match: 82.5% similarity (MATCH CONFIRMED)</a:t>
            </a:r>
          </a:p>
          <a:p>
            <a:pPr>
              <a:defRPr sz="1000">
                <a:solidFill>
                  <a:srgbClr val="94A3B8"/>
                </a:solidFill>
              </a:defRPr>
            </a:pPr>
            <a:r>
              <a:t>• Verdict: CLEAR FOR TRANSIT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89120" y="1737360"/>
            <a:ext cx="3383280" cy="4389120"/>
          </a:xfrm>
          <a:prstGeom prst="roundRect">
            <a:avLst/>
          </a:prstGeom>
          <a:solidFill>
            <a:srgbClr val="0E1C30"/>
          </a:solidFill>
          <a:ln w="25400">
            <a:solidFill>
              <a:srgbClr val="EF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F1F5F9"/>
                </a:solidFill>
              </a:defRPr>
            </a:pPr>
            <a:r>
              <a:t>Scenario 2: Expired Visa + Watchlist Alert</a:t>
            </a:r>
          </a:p>
          <a:p>
            <a:pPr>
              <a:defRPr sz="1200" b="1">
                <a:solidFill>
                  <a:srgbClr val="EF4444"/>
                </a:solidFill>
              </a:defRPr>
            </a:pPr>
            <a:r>
              <a:t>HIGH RISK / REJECTED (Score: 100/100)</a:t>
            </a:r>
          </a:p>
          <a:p>
            <a:pPr>
              <a:defRPr sz="1000">
                <a:solidFill>
                  <a:srgbClr val="94A3B8"/>
                </a:solidFill>
              </a:defRPr>
            </a:pPr>
            <a:r>
              <a:t>• Document: Schengen Tourist Visa (Maria Gonzalez, V9284710)</a:t>
            </a:r>
          </a:p>
          <a:p>
            <a:pPr>
              <a:defRPr sz="1000">
                <a:solidFill>
                  <a:srgbClr val="94A3B8"/>
                </a:solidFill>
              </a:defRPr>
            </a:pPr>
            <a:r>
              <a:t>• Expiry Check: Expired on 15/01/2024 (✕ Invalid)</a:t>
            </a:r>
          </a:p>
          <a:p>
            <a:pPr>
              <a:defRPr sz="1000">
                <a:solidFill>
                  <a:srgbClr val="94A3B8"/>
                </a:solidFill>
              </a:defRPr>
            </a:pPr>
            <a:r>
              <a:t>• Mock Database Hit: Revoked Tourist Visa - Overstay Violation</a:t>
            </a:r>
          </a:p>
          <a:p>
            <a:pPr>
              <a:defRPr sz="1000">
                <a:solidFill>
                  <a:srgbClr val="94A3B8"/>
                </a:solidFill>
              </a:defRPr>
            </a:pPr>
            <a:r>
              <a:t>• Border Stamp: Evaluated for ink bleed authenticity</a:t>
            </a:r>
          </a:p>
          <a:p>
            <a:pPr>
              <a:defRPr sz="1000">
                <a:solidFill>
                  <a:srgbClr val="94A3B8"/>
                </a:solidFill>
              </a:defRPr>
            </a:pPr>
            <a:r>
              <a:t>• Verdict: SECONDARY DETENTION / REJECTED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046720" y="1737360"/>
            <a:ext cx="3383280" cy="4389120"/>
          </a:xfrm>
          <a:prstGeom prst="roundRect">
            <a:avLst/>
          </a:prstGeom>
          <a:solidFill>
            <a:srgbClr val="0E1C30"/>
          </a:solidFill>
          <a:ln w="25400">
            <a:solidFill>
              <a:srgbClr val="EF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F1F5F9"/>
                </a:solidFill>
              </a:defRPr>
            </a:pPr>
            <a:r>
              <a:t>Scenario 3: Tampered Passport + Impersonator</a:t>
            </a:r>
          </a:p>
          <a:p>
            <a:pPr>
              <a:defRPr sz="1200" b="1">
                <a:solidFill>
                  <a:srgbClr val="EF4444"/>
                </a:solidFill>
              </a:defRPr>
            </a:pPr>
            <a:r>
              <a:t>CRITICAL RISK / REJECTED (Score: 86/100)</a:t>
            </a:r>
          </a:p>
          <a:p>
            <a:pPr>
              <a:defRPr sz="1000">
                <a:solidFill>
                  <a:srgbClr val="94A3B8"/>
                </a:solidFill>
              </a:defRPr>
            </a:pPr>
            <a:r>
              <a:t>• Document: Tampered Passport with altered name 'Vikram Mehta'</a:t>
            </a:r>
          </a:p>
          <a:p>
            <a:pPr>
              <a:defRPr sz="1000">
                <a:solidFill>
                  <a:srgbClr val="94A3B8"/>
                </a:solidFill>
              </a:defRPr>
            </a:pPr>
            <a:r>
              <a:t>• Photo Splice: Compression anomaly detected on facial ROI</a:t>
            </a:r>
          </a:p>
          <a:p>
            <a:pPr>
              <a:defRPr sz="1000">
                <a:solidFill>
                  <a:srgbClr val="94A3B8"/>
                </a:solidFill>
              </a:defRPr>
            </a:pPr>
            <a:r>
              <a:t>• ICAO MRZ Checksum: Corrupt check digit mathematically flagged</a:t>
            </a:r>
          </a:p>
          <a:p>
            <a:pPr>
              <a:defRPr sz="1000">
                <a:solidFill>
                  <a:srgbClr val="94A3B8"/>
                </a:solidFill>
              </a:defRPr>
            </a:pPr>
            <a:r>
              <a:t>• Biometric Match: 32.5% similarity (MISMATCH CONFIRMED)</a:t>
            </a:r>
          </a:p>
          <a:p>
            <a:pPr>
              <a:defRPr sz="1000">
                <a:solidFill>
                  <a:srgbClr val="94A3B8"/>
                </a:solidFill>
              </a:defRPr>
            </a:pPr>
            <a:r>
              <a:t>• Verdict: IDENTITY IMPERSONATION ALERT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322"/>
          </a:solidFill>
          <a:ln>
            <a:solidFill>
              <a:srgbClr val="0A13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457200"/>
            <a:ext cx="10728655" cy="54864"/>
          </a:xfrm>
          <a:prstGeom prst="rect">
            <a:avLst/>
          </a:prstGeom>
          <a:solidFill>
            <a:srgbClr val="00ADB5"/>
          </a:solidFill>
          <a:ln>
            <a:solidFill>
              <a:srgbClr val="00AD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594360"/>
            <a:ext cx="1072865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0ADB5"/>
                </a:solidFill>
              </a:defRPr>
            </a:pPr>
            <a:r>
              <a:t>SIH26188 • MINISTRY OF HOME AFFAIRS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868680"/>
            <a:ext cx="10728655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F1F5F9"/>
                </a:solidFill>
              </a:defRPr>
            </a:pPr>
            <a:r>
              <a:t>Key Differentiators: Why TruthLens Stands Out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37360"/>
            <a:ext cx="10728655" cy="1005840"/>
          </a:xfrm>
          <a:prstGeom prst="roundRect">
            <a:avLst/>
          </a:prstGeom>
          <a:solidFill>
            <a:srgbClr val="0E1C30"/>
          </a:solidFill>
          <a:ln w="19050">
            <a:solidFill>
              <a:srgbClr val="00AD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500" b="1">
                <a:solidFill>
                  <a:srgbClr val="00F5D4"/>
                </a:solidFill>
              </a:defRPr>
            </a:pPr>
            <a:r>
              <a:t>1. Explainable Legal Audit Trail</a:t>
            </a:r>
          </a:p>
          <a:p>
            <a:pPr>
              <a:defRPr sz="1100">
                <a:solidFill>
                  <a:srgbClr val="F1F5F9"/>
                </a:solidFill>
              </a:defRPr>
            </a:pPr>
            <a:r>
              <a:t>Unlike black-box neural networks that simply output 'Fake: 95%', TruthLens provides an itemized, court-admissible forensic breakdown with exact mathematical proofs and localized bounding boxes.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2880360"/>
            <a:ext cx="10728655" cy="1005840"/>
          </a:xfrm>
          <a:prstGeom prst="roundRect">
            <a:avLst/>
          </a:prstGeom>
          <a:solidFill>
            <a:srgbClr val="0E1C30"/>
          </a:solidFill>
          <a:ln w="19050">
            <a:solidFill>
              <a:srgbClr val="00AD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500" b="1">
                <a:solidFill>
                  <a:srgbClr val="00F5D4"/>
                </a:solidFill>
              </a:defRPr>
            </a:pPr>
            <a:r>
              <a:t>2. Dual Mathematical Checksums</a:t>
            </a:r>
          </a:p>
          <a:p>
            <a:pPr>
              <a:defRPr sz="1100">
                <a:solidFill>
                  <a:srgbClr val="F1F5F9"/>
                </a:solidFill>
              </a:defRPr>
            </a:pPr>
            <a:r>
              <a:t>Combines UIDAI Verhoeff D5 dihedral permutations for Indian national IDs and ICAO 9303 cyclic 7-3-1 weighting for international passports.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4023360"/>
            <a:ext cx="10728655" cy="1005840"/>
          </a:xfrm>
          <a:prstGeom prst="roundRect">
            <a:avLst/>
          </a:prstGeom>
          <a:solidFill>
            <a:srgbClr val="0E1C30"/>
          </a:solidFill>
          <a:ln w="19050">
            <a:solidFill>
              <a:srgbClr val="00AD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500" b="1">
                <a:solidFill>
                  <a:srgbClr val="00F5D4"/>
                </a:solidFill>
              </a:defRPr>
            </a:pPr>
            <a:r>
              <a:t>3. 100% Local Deployment</a:t>
            </a:r>
          </a:p>
          <a:p>
            <a:pPr>
              <a:defRPr sz="1100">
                <a:solidFill>
                  <a:srgbClr val="F1F5F9"/>
                </a:solidFill>
              </a:defRPr>
            </a:pPr>
            <a:r>
              <a:t>Runs entirely on-premises without transmitting sensitive citizen biometric data to external commercial cloud APIs.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5166360"/>
            <a:ext cx="10728655" cy="1005840"/>
          </a:xfrm>
          <a:prstGeom prst="roundRect">
            <a:avLst/>
          </a:prstGeom>
          <a:solidFill>
            <a:srgbClr val="0E1C30"/>
          </a:solidFill>
          <a:ln w="19050">
            <a:solidFill>
              <a:srgbClr val="00AD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500" b="1">
                <a:solidFill>
                  <a:srgbClr val="00F5D4"/>
                </a:solidFill>
              </a:defRPr>
            </a:pPr>
            <a:r>
              <a:t>4. Sub-2-Second High Throughput</a:t>
            </a:r>
          </a:p>
          <a:p>
            <a:pPr>
              <a:defRPr sz="1100">
                <a:solidFill>
                  <a:srgbClr val="F1F5F9"/>
                </a:solidFill>
              </a:defRPr>
            </a:pPr>
            <a:r>
              <a:t>Processes complete 7-step pipeline in 1.2 to 1.8 seconds, enabling high-volume border screening without terminal delays.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322"/>
          </a:solidFill>
          <a:ln>
            <a:solidFill>
              <a:srgbClr val="0A13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457200"/>
            <a:ext cx="10728655" cy="54864"/>
          </a:xfrm>
          <a:prstGeom prst="rect">
            <a:avLst/>
          </a:prstGeom>
          <a:solidFill>
            <a:srgbClr val="00ADB5"/>
          </a:solidFill>
          <a:ln>
            <a:solidFill>
              <a:srgbClr val="00AD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594360"/>
            <a:ext cx="1072865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0ADB5"/>
                </a:solidFill>
              </a:defRPr>
            </a:pPr>
            <a:r>
              <a:t>SIH26188 • MINISTRY OF HOME AFFAIRS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868680"/>
            <a:ext cx="10728655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F1F5F9"/>
                </a:solidFill>
              </a:defRPr>
            </a:pPr>
            <a:r>
              <a:t>National Impact &amp; Future Scalability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37360"/>
            <a:ext cx="5120640" cy="4389120"/>
          </a:xfrm>
          <a:prstGeom prst="roundRect">
            <a:avLst/>
          </a:prstGeom>
          <a:solidFill>
            <a:srgbClr val="0E1C30"/>
          </a:solidFill>
          <a:ln>
            <a:solidFill>
              <a:srgbClr val="00AD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700" b="1">
                <a:solidFill>
                  <a:srgbClr val="00F5D4"/>
                </a:solidFill>
              </a:defRPr>
            </a:pPr>
            <a:r>
              <a:t>Expected Border Security Impact</a:t>
            </a:r>
          </a:p>
          <a:p>
            <a:pPr>
              <a:defRPr b="1" sz="1200">
                <a:solidFill>
                  <a:srgbClr val="F1F5F9"/>
                </a:solidFill>
              </a:defRPr>
            </a:pPr>
            <a:r>
              <a:t>🎯 Throughput Acceleration: 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   Reduces inspection time from several minutes to under 2 seconds per passenger.</a:t>
            </a:r>
          </a:p>
          <a:p>
            <a:pPr>
              <a:defRPr b="1" sz="1200">
                <a:solidFill>
                  <a:srgbClr val="F1F5F9"/>
                </a:solidFill>
              </a:defRPr>
            </a:pPr>
            <a:r>
              <a:t>🎯 Elimination of Human Error: 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   Automates detection of microscopic JPEG recompression splices and math check digit anomalies.</a:t>
            </a:r>
          </a:p>
          <a:p>
            <a:pPr>
              <a:defRPr b="1" sz="1200">
                <a:solidFill>
                  <a:srgbClr val="F1F5F9"/>
                </a:solidFill>
              </a:defRPr>
            </a:pPr>
            <a:r>
              <a:t>🎯 Standardized Decision Making: 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   Enforces uniform risk thresholds across all airport and seaport terminals nationwide.</a:t>
            </a:r>
          </a:p>
          <a:p>
            <a:pPr>
              <a:defRPr b="1" sz="1200">
                <a:solidFill>
                  <a:srgbClr val="F1F5F9"/>
                </a:solidFill>
              </a:defRPr>
            </a:pPr>
            <a:r>
              <a:t>🎯 Intelligence Trail: 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   Creates digital audit trails for counter-terrorism and anti-human-trafficking intelligence.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737360"/>
            <a:ext cx="5212080" cy="4389120"/>
          </a:xfrm>
          <a:prstGeom prst="roundRect">
            <a:avLst/>
          </a:prstGeom>
          <a:solidFill>
            <a:srgbClr val="0E1C30"/>
          </a:solidFill>
          <a:ln>
            <a:solidFill>
              <a:srgbClr val="00AD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700" b="1">
                <a:solidFill>
                  <a:srgbClr val="00F5D4"/>
                </a:solidFill>
              </a:defRPr>
            </a:pPr>
            <a:r>
              <a:t>Future Scalability Roadmap</a:t>
            </a:r>
          </a:p>
          <a:p>
            <a:pPr>
              <a:defRPr b="1" sz="1200">
                <a:solidFill>
                  <a:srgbClr val="F1F5F9"/>
                </a:solidFill>
              </a:defRPr>
            </a:pPr>
            <a:r>
              <a:t>🚀 NFC e-Passport Chip Reading: 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   Integration of ISO/IEC 14443 contactless smart card chip readers for biometric e-Passports.</a:t>
            </a:r>
          </a:p>
          <a:p>
            <a:pPr>
              <a:defRPr b="1" sz="1200">
                <a:solidFill>
                  <a:srgbClr val="F1F5F9"/>
                </a:solidFill>
              </a:defRPr>
            </a:pPr>
            <a:r>
              <a:t>🚀 Blockchain Watchlist Synchronization: 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   Decentralized, tamper-proof synchronization of Interpol and MHA watchlists across air terminals.</a:t>
            </a:r>
          </a:p>
          <a:p>
            <a:pPr>
              <a:defRPr b="1" sz="1200">
                <a:solidFill>
                  <a:srgbClr val="F1F5F9"/>
                </a:solidFill>
              </a:defRPr>
            </a:pPr>
            <a:r>
              <a:t>🚀 Multi-Camera Live CCTV Matching: 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   Matching document portrait against continuous walkthrough checkpoint video streams.</a:t>
            </a:r>
          </a:p>
          <a:p>
            <a:pPr>
              <a:defRPr b="1" sz="1200">
                <a:solidFill>
                  <a:srgbClr val="F1F5F9"/>
                </a:solidFill>
              </a:defRPr>
            </a:pPr>
            <a:r>
              <a:t>🚀 Hardware Kiosk Deployment: 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   Standalone self-service border e-Gates (Smart Border Corridors).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322"/>
          </a:solidFill>
          <a:ln>
            <a:solidFill>
              <a:srgbClr val="0A13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371600" y="1097280"/>
            <a:ext cx="9448495" cy="4663440"/>
          </a:xfrm>
          <a:prstGeom prst="roundRect">
            <a:avLst/>
          </a:prstGeom>
          <a:solidFill>
            <a:srgbClr val="0E1C30"/>
          </a:solidFill>
          <a:ln w="25400">
            <a:solidFill>
              <a:srgbClr val="00F5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828800" y="1463040"/>
            <a:ext cx="8534095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00ADB5"/>
                </a:solidFill>
              </a:defRPr>
            </a:pPr>
            <a:r>
              <a:t>TRUTHLENS • SIH26188</a:t>
            </a:r>
          </a:p>
          <a:p>
            <a:pPr>
              <a:defRPr sz="4000" b="1">
                <a:solidFill>
                  <a:srgbClr val="F1F5F9"/>
                </a:solidFill>
              </a:defRPr>
            </a:pPr>
            <a:r>
              <a:t>Thank You, Respected Judges!</a:t>
            </a:r>
          </a:p>
          <a:p>
            <a:pPr>
              <a:defRPr sz="1800">
                <a:solidFill>
                  <a:srgbClr val="00F5D4"/>
                </a:solidFill>
              </a:defRPr>
            </a:pPr>
            <a:r>
              <a:t>Protecting National Borders with Explainable, Deterministic AI Forensics.</a:t>
            </a:r>
          </a:p>
          <a:p>
            <a:br/>
            <a:pPr>
              <a:defRPr sz="1500">
                <a:solidFill>
                  <a:srgbClr val="94A3B8"/>
                </a:solidFill>
              </a:defRPr>
            </a:pPr>
            <a:r>
              <a:t>Ready for Questions &amp; Live Interactive Demonstration:</a:t>
            </a:r>
            <a:br/>
            <a:r>
              <a:t>• Web Interface: http://127.0.0.1:8000</a:t>
            </a:r>
            <a:br/>
            <a:r>
              <a:t>• Fast, Explainable, and 100% Local.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