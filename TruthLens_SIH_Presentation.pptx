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2"/>
          </a:solidFill>
          <a:ln>
            <a:solidFill>
              <a:srgbClr val="0A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DB5"/>
                </a:solidFill>
              </a:defRPr>
            </a:pPr>
            <a:r>
              <a:t>SMART INDIA HACKATHON (SIH 2024-2026)</a:t>
            </a:r>
          </a:p>
          <a:p>
            <a:pPr>
              <a:defRPr sz="4400" b="1">
                <a:solidFill>
                  <a:srgbClr val="F1F5F9"/>
                </a:solidFill>
              </a:defRPr>
            </a:pPr>
            <a:r>
              <a:t>TruthLens</a:t>
            </a:r>
          </a:p>
          <a:p>
            <a:pPr>
              <a:defRPr sz="2200">
                <a:solidFill>
                  <a:srgbClr val="00F5D4"/>
                </a:solidFill>
              </a:defRPr>
            </a:pPr>
            <a:r>
              <a:t>AI-Based Fake Identity &amp; Document Screening System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Problem Statement ID: SIH26188</a:t>
            </a:r>
            <a:br/>
            <a:r>
              <a:t>Ministry: Ministry of Home Affairs (MHA)</a:t>
            </a:r>
            <a:br/>
            <a:r>
              <a:t>Category: Blockchain &amp; Cybersecurity</a:t>
            </a:r>
          </a:p>
          <a:p>
            <a:br/>
            <a:pPr>
              <a:defRPr sz="1300" b="1">
                <a:solidFill>
                  <a:srgbClr val="F1F5F9"/>
                </a:solidFill>
              </a:defRPr>
            </a:pPr>
            <a:r>
              <a:t>Team Presentation &amp; Live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2"/>
          </a:solidFill>
          <a:ln>
            <a:solidFill>
              <a:srgbClr val="0A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DB5"/>
                </a:solidFill>
              </a:defRPr>
            </a:pPr>
            <a:r>
              <a:t>SIH26188 • MINISTRY OF HOME AFFAIRS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The Problem: Border Checkpoint Identity Screening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0E1C30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5D4"/>
                </a:solidFill>
              </a:defRPr>
            </a:pPr>
            <a:r>
              <a:t>Operational Context &amp; Real-World Strain</a:t>
            </a:r>
          </a:p>
          <a:p>
            <a:pPr>
              <a:defRPr b="1" sz="1300">
                <a:solidFill>
                  <a:srgbClr val="F1F5F9"/>
                </a:solidFill>
              </a:defRPr>
            </a:pPr>
            <a:r>
              <a:t>• High Passenger Volume: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Border terminals process thousands of passports, visas, and national IDs daily, causing long checkpoint queues.</a:t>
            </a:r>
          </a:p>
          <a:p>
            <a:pPr>
              <a:defRPr b="1" sz="1300">
                <a:solidFill>
                  <a:srgbClr val="F1F5F9"/>
                </a:solidFill>
              </a:defRPr>
            </a:pPr>
            <a:r>
              <a:t>• Manual Inspection Limitations: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Physical inspection is slow (takes 3–5 minutes per traveler) and prone to human fatigue.</a:t>
            </a:r>
          </a:p>
          <a:p>
            <a:pPr>
              <a:defRPr b="1" sz="1300">
                <a:solidFill>
                  <a:srgbClr val="F1F5F9"/>
                </a:solidFill>
              </a:defRPr>
            </a:pPr>
            <a:r>
              <a:t>• Sophisticated Forgeries: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Modern counterfeiters use digital editing tools (Photoshop, Canva) to alter photos and names without leaving visible paper tears.</a:t>
            </a:r>
          </a:p>
          <a:p>
            <a:pPr>
              <a:defRPr b="1" sz="1300">
                <a:solidFill>
                  <a:srgbClr val="F1F5F9"/>
                </a:solidFill>
              </a:defRPr>
            </a:pPr>
            <a:r>
              <a:t>• Security Vulnerabilities: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Human officers cannot mathematically verify MRZ 7-3-1 check digits or Verhoeff D5 algorithms with the naked eye.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0E1C30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Key Threats Faced at Borders</a:t>
            </a:r>
          </a:p>
          <a:p>
            <a:pPr>
              <a:defRPr b="1" sz="1300">
                <a:solidFill>
                  <a:srgbClr val="F1F5F9"/>
                </a:solidFill>
              </a:defRPr>
            </a:pPr>
            <a:r>
              <a:t>✕ Counterfeit Passports &amp; Visas: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Fabricated travel authorizations circulating through transnational fraud rings.</a:t>
            </a:r>
          </a:p>
          <a:p>
            <a:pPr>
              <a:defRPr b="1" sz="1300">
                <a:solidFill>
                  <a:srgbClr val="F1F5F9"/>
                </a:solidFill>
              </a:defRPr>
            </a:pPr>
            <a:r>
              <a:t>✕ Photo Replacement &amp; Face Splicing: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Pasting a foreign face onto a genuine passport holder's page.</a:t>
            </a:r>
          </a:p>
          <a:p>
            <a:pPr>
              <a:defRPr b="1" sz="1300">
                <a:solidFill>
                  <a:srgbClr val="F1F5F9"/>
                </a:solidFill>
              </a:defRPr>
            </a:pPr>
            <a:r>
              <a:t>✕ Identity Impersonation: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Travelers carrying genuine documents belonging to a lookalike individual.</a:t>
            </a:r>
          </a:p>
          <a:p>
            <a:pPr>
              <a:defRPr b="1" sz="1300">
                <a:solidFill>
                  <a:srgbClr val="F1F5F9"/>
                </a:solidFill>
              </a:defRPr>
            </a:pPr>
            <a:r>
              <a:t>✕ Altered Dates &amp; Validity Overstay: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Changing expiry dates to bypass border stay duration limits.</a:t>
            </a:r>
          </a:p>
          <a:p>
            <a:pPr>
              <a:defRPr b="1" sz="1300">
                <a:solidFill>
                  <a:srgbClr val="F1F5F9"/>
                </a:solidFill>
              </a:defRPr>
            </a:pPr>
            <a:r>
              <a:t>✕ Blacklisted &amp; Stolen Stock: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Use of stolen blank passport stock (Interpol SLTD notices).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2"/>
          </a:solidFill>
          <a:ln>
            <a:solidFill>
              <a:srgbClr val="0A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DB5"/>
                </a:solidFill>
              </a:defRPr>
            </a:pPr>
            <a:r>
              <a:t>SIH26188 • MINISTRY OF HOME AFFAIRS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Our Solution: TruthLens 7-Step Autonomous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417320" cy="347472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ADB5"/>
                </a:solidFill>
              </a:defRPr>
            </a:pPr>
            <a:r>
              <a:t>STEP 1</a:t>
            </a:r>
          </a:p>
          <a:p>
            <a:pPr algn="ctr">
              <a:defRPr sz="1400" b="1">
                <a:solidFill>
                  <a:srgbClr val="F1F5F9"/>
                </a:solidFill>
              </a:defRPr>
            </a:pPr>
            <a:r>
              <a:t>1. OCR &amp; MRZ</a:t>
            </a:r>
          </a:p>
          <a:p>
            <a:br/>
            <a:pPr algn="ctr">
              <a:defRPr sz="1100">
                <a:solidFill>
                  <a:srgbClr val="94A3B8"/>
                </a:solidFill>
              </a:defRPr>
            </a:pPr>
            <a:r>
              <a:t>ICAO Doc 9303 MRZ</a:t>
            </a:r>
            <a:br/>
            <a:r>
              <a:t>+ Text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76856" y="2103120"/>
            <a:ext cx="1417320" cy="347472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ADB5"/>
                </a:solidFill>
              </a:defRPr>
            </a:pPr>
            <a:r>
              <a:t>STEP 2</a:t>
            </a:r>
          </a:p>
          <a:p>
            <a:pPr algn="ctr">
              <a:defRPr sz="1400" b="1">
                <a:solidFill>
                  <a:srgbClr val="F1F5F9"/>
                </a:solidFill>
              </a:defRPr>
            </a:pPr>
            <a:r>
              <a:t>2. Checksums</a:t>
            </a:r>
          </a:p>
          <a:p>
            <a:br/>
            <a:pPr algn="ctr">
              <a:defRPr sz="1100">
                <a:solidFill>
                  <a:srgbClr val="94A3B8"/>
                </a:solidFill>
              </a:defRPr>
            </a:pPr>
            <a:r>
              <a:t>Verhoeff D5 Math</a:t>
            </a:r>
            <a:br/>
            <a:r>
              <a:t>+ ICAO 7-3-1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22192" y="2103120"/>
            <a:ext cx="1417320" cy="347472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ADB5"/>
                </a:solidFill>
              </a:defRPr>
            </a:pPr>
            <a:r>
              <a:t>STEP 3</a:t>
            </a:r>
          </a:p>
          <a:p>
            <a:pPr algn="ctr">
              <a:defRPr sz="1400" b="1">
                <a:solidFill>
                  <a:srgbClr val="F1F5F9"/>
                </a:solidFill>
              </a:defRPr>
            </a:pPr>
            <a:r>
              <a:t>3. Rules Check</a:t>
            </a:r>
          </a:p>
          <a:p>
            <a:br/>
            <a:pPr algn="ctr">
              <a:defRPr sz="1100">
                <a:solidFill>
                  <a:srgbClr val="94A3B8"/>
                </a:solidFill>
              </a:defRPr>
            </a:pPr>
            <a:r>
              <a:t>Expiry Date &amp;</a:t>
            </a:r>
            <a:br/>
            <a:r>
              <a:t>Border 6-Month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67528" y="2103120"/>
            <a:ext cx="1417320" cy="347472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F5D4"/>
                </a:solidFill>
              </a:defRPr>
            </a:pPr>
            <a:r>
              <a:t>STEP 4</a:t>
            </a:r>
          </a:p>
          <a:p>
            <a:pPr algn="ctr">
              <a:defRPr sz="1400" b="1">
                <a:solidFill>
                  <a:srgbClr val="F1F5F9"/>
                </a:solidFill>
              </a:defRPr>
            </a:pPr>
            <a:r>
              <a:t>4. Forensics</a:t>
            </a:r>
          </a:p>
          <a:p>
            <a:br/>
            <a:pPr algn="ctr">
              <a:defRPr sz="1100">
                <a:solidFill>
                  <a:srgbClr val="94A3B8"/>
                </a:solidFill>
              </a:defRPr>
            </a:pPr>
            <a:r>
              <a:t>ELA Heatmap &amp;</a:t>
            </a:r>
            <a:br/>
            <a:r>
              <a:t>Photo Splice Ratio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12864" y="2103120"/>
            <a:ext cx="1417320" cy="347472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F5D4"/>
                </a:solidFill>
              </a:defRPr>
            </a:pPr>
            <a:r>
              <a:t>STEP 5</a:t>
            </a:r>
          </a:p>
          <a:p>
            <a:pPr algn="ctr">
              <a:defRPr sz="1400" b="1">
                <a:solidFill>
                  <a:srgbClr val="F1F5F9"/>
                </a:solidFill>
              </a:defRPr>
            </a:pPr>
            <a:r>
              <a:t>5. Metadata</a:t>
            </a:r>
          </a:p>
          <a:p>
            <a:br/>
            <a:pPr algn="ctr">
              <a:defRPr sz="1100">
                <a:solidFill>
                  <a:srgbClr val="94A3B8"/>
                </a:solidFill>
              </a:defRPr>
            </a:pPr>
            <a:r>
              <a:t>EXIF Audit &amp;</a:t>
            </a:r>
            <a:br/>
            <a:r>
              <a:t>Photoshop Traces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103120"/>
            <a:ext cx="1417320" cy="347472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STEP 6</a:t>
            </a:r>
          </a:p>
          <a:p>
            <a:pPr algn="ctr">
              <a:defRPr sz="1400" b="1">
                <a:solidFill>
                  <a:srgbClr val="F1F5F9"/>
                </a:solidFill>
              </a:defRPr>
            </a:pPr>
            <a:r>
              <a:t>6. Face Match</a:t>
            </a:r>
          </a:p>
          <a:p>
            <a:br/>
            <a:pPr algn="ctr">
              <a:defRPr sz="1100">
                <a:solidFill>
                  <a:srgbClr val="94A3B8"/>
                </a:solidFill>
              </a:defRPr>
            </a:pPr>
            <a:r>
              <a:t>1:1 Biometric Match</a:t>
            </a:r>
            <a:br/>
            <a:r>
              <a:t>(Doc vs Live Photo)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03536" y="2103120"/>
            <a:ext cx="1417320" cy="347472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STEP 7</a:t>
            </a:r>
          </a:p>
          <a:p>
            <a:pPr algn="ctr">
              <a:defRPr sz="1400" b="1">
                <a:solidFill>
                  <a:srgbClr val="F1F5F9"/>
                </a:solidFill>
              </a:defRPr>
            </a:pPr>
            <a:r>
              <a:t>7. Risk Score</a:t>
            </a:r>
          </a:p>
          <a:p>
            <a:br/>
            <a:pPr algn="ctr">
              <a:defRPr sz="1100">
                <a:solidFill>
                  <a:srgbClr val="94A3B8"/>
                </a:solidFill>
              </a:defRPr>
            </a:pPr>
            <a:r>
              <a:t>0-100 Score &amp;</a:t>
            </a:r>
            <a:br/>
            <a:r>
              <a:t>Final Verdict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F5D4"/>
                </a:solidFill>
              </a:defRPr>
            </a:pPr>
            <a:r>
              <a:t>⚡ End-to-End Latency: &lt; 1.8 seconds per traveler | Runs 100% locally without cloud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2"/>
          </a:solidFill>
          <a:ln>
            <a:solidFill>
              <a:srgbClr val="0A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DB5"/>
                </a:solidFill>
              </a:defRPr>
            </a:pPr>
            <a:r>
              <a:t>SIH26188 • MINISTRY OF HOME AFFAIRS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Module 1 &amp; 2: OCR, MRZ &amp; Mathematical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0E1C30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F5D4"/>
                </a:solidFill>
              </a:defRPr>
            </a:pPr>
            <a:r>
              <a:t>Module 1: ICAO Doc 9303 MRZ Engine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✓ Universal Document Support: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Extracts structured fields from Passports, Visas, Aadhaar, PAN, Driving Licenses, and Travel Permits.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✓ ICAO TD3 &amp; TD1 Parser: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Decodes 2-line 44-char passport MRZ and 3-line 30-char national ID MRZ zones.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✓ Cyclic 7-3-1 Weighting Checksums: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Calculates modular check digits on Passport No, Birth Date, and Expiry Date.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✓ Mathematical Tamper Detection: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Counterfeit numbers created without the exact ICAO checksum algorithm fail mathematically with 100% certainty.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0E1C30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F5D4"/>
                </a:solidFill>
              </a:defRPr>
            </a:pPr>
            <a:r>
              <a:t>Module 2: Regulatory &amp; Checksum Rules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✓ UIDAI Verhoeff D5 Algorithm: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Implements dihedral group D5 permutation matrix used by UIDAI. Catches 100% of single-digit and transposition errors in 12-digit Aadhaar.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✓ PAN Entity Code Syntax: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Validates 4th entity code ('P' for Individual, 'C' for Company, 'F' for Firm) and ITD format structure.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✓ Expiry &amp; 6-Month Border Rule: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Checks validity window and warns when a passport has less than 180 days validity remaining for international transit.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✓ Status Checklist Badges: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Every single check produces an itemized legal audit trail: ✓ Valid, ⚠ Warning, or ✕ Invalid.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2"/>
          </a:solidFill>
          <a:ln>
            <a:solidFill>
              <a:srgbClr val="0A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DB5"/>
                </a:solidFill>
              </a:defRPr>
            </a:pPr>
            <a:r>
              <a:t>SIH26188 • MINISTRY OF HOME AFFAIRS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Module 3: Tampering Detection (Core AI Innovation)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92024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ADB5"/>
                </a:solidFill>
              </a:defRPr>
            </a:pPr>
            <a:r>
              <a:t>1. Error Level Analysis (ELA)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Resaves document at 90% JPEG quality to measure recompression difference. Edited patches and pasted fonts display elevated error, visualized as a colorized JET heatmap.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192024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2. Photo Splice Detection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Measures compression delta ratio between the facial portrait ROI and the card background. Pasted headshots exhibit sharp compression discontinuity (&gt; 2.0x ratio).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192024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3. Border Stamp Forgery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Evaluates immigration entry stamps for physical ink bleed and substrate absorption. Flat digital vector paste is flagged via high edge Laplacian variance.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192024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4. EXIF Metadata Forensics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Inspects image header markers for software editing traces (Adobe Photoshop, Canva, GIMP, Snapseed) and creation vs modification timestamp mismatches.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2"/>
          </a:solidFill>
          <a:ln>
            <a:solidFill>
              <a:srgbClr val="0A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DB5"/>
                </a:solidFill>
              </a:defRPr>
            </a:pPr>
            <a:r>
              <a:t>SIH26188 • MINISTRY OF HOME AFFAIRS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Module 4: 1:1 Biometric Face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0E1C3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Biometric Comparison Methodology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👤 Automated Portrait Cropping: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Computer-vision skin-chrominance (YCrCb) &amp; anthropometric contour detector isolates facial portrait from document automatically.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👤 Multi-Modal Live Input: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Accepts uploaded live photo or captures live passenger snapshot directly from checkpoint webcam via WebRTC.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👤 HSV Color Histogram Correlation: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Measures skin chrominance, lighting balance, and pigment distribution across normalized color space.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👤 Structural Gradient &amp; Template Match: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Computes normalized cross-correlation and Sobel edge continuity between aligned 160x160 face crops.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0E1C30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F5D4"/>
                </a:solidFill>
              </a:defRPr>
            </a:pPr>
            <a:r>
              <a:t>Decision Thresholds &amp; Calibrated Output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• Match Confirmed (≥ 70%):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Clear 1:1 match. Document photo corresponds to presented individual (adds 0 risk points).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• Possible Mismatch (48%–69%):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Borderline similarity. Flags warning for security officer physical inspection (adds +18 risk points).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• Biometric Mismatch (&lt; 48%):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Severe facial discrepancy. Critical security alert for suspected identity impersonation (adds +35 risk points).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• Visual Audit Previews: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Renders document face crop side-by-side with live passenger face crop directly on the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2"/>
          </a:solidFill>
          <a:ln>
            <a:solidFill>
              <a:srgbClr val="0A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DB5"/>
                </a:solidFill>
              </a:defRPr>
            </a:pPr>
            <a:r>
              <a:t>SIH26188 • MINISTRY OF HOME AFFAIRS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Dynamic Risk Assessment Engine &amp; Transparent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4389120"/>
          </a:xfrm>
          <a:prstGeom prst="roundRect">
            <a:avLst/>
          </a:prstGeom>
          <a:solidFill>
            <a:srgbClr val="0E1C30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5D4"/>
                </a:solidFill>
              </a:defRPr>
            </a:pPr>
            <a:r>
              <a:t>Calibrated Risk Tiers</a:t>
            </a:r>
          </a:p>
          <a:p>
            <a:br/>
            <a:pPr>
              <a:defRPr b="1" sz="1300">
                <a:solidFill>
                  <a:srgbClr val="10B981"/>
                </a:solidFill>
              </a:defRPr>
            </a:pPr>
            <a:r>
              <a:t>LOW RISK (0–29)</a:t>
            </a:r>
          </a:p>
          <a:p>
            <a:pPr>
              <a:defRPr sz="1100" b="1">
                <a:solidFill>
                  <a:srgbClr val="F1F5F9"/>
                </a:solidFill>
              </a:defRPr>
            </a:pPr>
            <a:r>
              <a:t>Verdict: VERIFIED / LOW RISK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Clear for transit. All layers verified authentic.</a:t>
            </a:r>
          </a:p>
          <a:p>
            <a:br/>
            <a:pPr>
              <a:defRPr b="1" sz="1300">
                <a:solidFill>
                  <a:srgbClr val="F59E0B"/>
                </a:solidFill>
              </a:defRPr>
            </a:pPr>
            <a:r>
              <a:t>MEDIUM RISK (30–59)</a:t>
            </a:r>
          </a:p>
          <a:p>
            <a:pPr>
              <a:defRPr sz="1100" b="1">
                <a:solidFill>
                  <a:srgbClr val="F1F5F9"/>
                </a:solidFill>
              </a:defRPr>
            </a:pPr>
            <a:r>
              <a:t>Verdict: NEEDS MANUAL REVIEW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Secondary physical inspection recommended.</a:t>
            </a:r>
          </a:p>
          <a:p>
            <a:br/>
            <a:pPr>
              <a:defRPr b="1" sz="1300">
                <a:solidFill>
                  <a:srgbClr val="EF4444"/>
                </a:solidFill>
              </a:defRPr>
            </a:pPr>
            <a:r>
              <a:t>HIGH RISK (60–79)</a:t>
            </a:r>
          </a:p>
          <a:p>
            <a:pPr>
              <a:defRPr sz="1100" b="1">
                <a:solidFill>
                  <a:srgbClr val="F1F5F9"/>
                </a:solidFill>
              </a:defRPr>
            </a:pPr>
            <a:r>
              <a:t>Verdict: HIGH RISK / SUSPICIOUS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High security violation alert. Supervisor review.</a:t>
            </a:r>
          </a:p>
          <a:p>
            <a:br/>
            <a:pPr>
              <a:defRPr b="1" sz="1300">
                <a:solidFill>
                  <a:srgbClr val="EF4444"/>
                </a:solidFill>
              </a:defRPr>
            </a:pPr>
            <a:r>
              <a:t>CRITICAL (80–100)</a:t>
            </a:r>
          </a:p>
          <a:p>
            <a:pPr>
              <a:defRPr sz="1100" b="1">
                <a:solidFill>
                  <a:srgbClr val="F1F5F9"/>
                </a:solidFill>
              </a:defRPr>
            </a:pPr>
            <a:r>
              <a:t>Verdict: HIGH RISK / SUSPICIOUS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Critical breach: Counterfeit, splice, or watchlist hit.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737360"/>
            <a:ext cx="6217920" cy="4389120"/>
          </a:xfrm>
          <a:prstGeom prst="roundRect">
            <a:avLst/>
          </a:prstGeom>
          <a:solidFill>
            <a:srgbClr val="0E1C30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5D4"/>
                </a:solidFill>
              </a:defRPr>
            </a:pPr>
            <a:r>
              <a:t>Transparent Contributing Risk Factors (+Points)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Mock Watchlist Hit (Interpol Notice / Stolen): 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   Weight: +45 Points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Photo Replacement / Facial ROI Splice: 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   Weight: +35 Points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Biometric Face Mismatch (Impersonation): 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   Weight: +35 Points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Document Validity Expired: 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   Weight: +30 Points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Editing Software Signature (Photoshop/Canva): 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   Weight: +25 Points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ICAO / Verhoeff Checksum Failure: 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   Weight: +25 Points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Suspect Border Stamp (Digital Paste): 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   Weight: +15 Points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Missing Mandatory Identity Fields: 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   Weight: +10 Points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2"/>
          </a:solidFill>
          <a:ln>
            <a:solidFill>
              <a:srgbClr val="0A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DB5"/>
                </a:solidFill>
              </a:defRPr>
            </a:pPr>
            <a:r>
              <a:t>SIH26188 • MINISTRY OF HOME AFFAIRS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Mock Verification Database &amp; SQLite Audit Trail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0E1C3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Mock Border Verification Database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🗄️ Simulated Border Watchlists: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Pre-seeded SQLite table storing mock watchlists for testing without accessing classified government databases.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🗄️ Interpol Red Notices: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Simulated international notices (e.g. Vikram Mehta, Passport L898902C3).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🗄️ Stolen Passport Stock (SLTD):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Alerts for reported lost or stolen passport series.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🗄️ Overstay &amp; Revocation Registry: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Flagged tourist visas with expired stay duration limits (e.g. Maria Gonzalez, Visa V9284710).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🗄️ Ethical Disclaimer: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Prominently labeled on every dashboard screen: 'DEMO DATA – NOT CONNECTED TO GOVERNMENT DATABASES'.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0E1C30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F5D4"/>
                </a:solidFill>
              </a:defRPr>
            </a:pPr>
            <a:r>
              <a:t>Persistent SQLite Audit Trail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🕒 Immutable Screening Logs: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Stores every single passenger screening transaction locally with unique ID (e.g. TL-20260903-XXXX).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🕒 Full JSON Payload Preservation: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Retains complete OCR field matrices, ELA metrics, face match scores, and factor audit trails.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🕒 Historical Report Inspection: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Security supervisors can search past screenings by date, passenger name, document number, or risk tier.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🕒 Printable PDF Certificate: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1-click generation of formatted official Border Security Forensic Certificate for legal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2"/>
          </a:solidFill>
          <a:ln>
            <a:solidFill>
              <a:srgbClr val="0A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DB5"/>
                </a:solidFill>
              </a:defRPr>
            </a:pPr>
            <a:r>
              <a:t>SIH26188 • MINISTRY OF HOME AFFAIRS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Live Demo Scenarios for SIH Hackathon Judges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Scenario 1: Genuine Passport + Live Match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LOW RISK / VERIFIED (Score: 6/100)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Document: Authentic US Passport (Johnathan Doe, A89412051)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Live Photo: Matching portrait (Webcam / Live Photo)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ICAO 9303 Checksum: 100% verified (doc no, DOB, expiry)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Biometric Match: 82.5% similarity (MATCH CONFIRMED)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Verdict: CLEAR FOR TRANSIT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Scenario 2: Expired Visa + Watchlist Alert</a:t>
            </a:r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HIGH RISK / REJECTED (Score: 100/100)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Document: Schengen Tourist Visa (Maria Gonzalez, V9284710)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Expiry Check: Expired on 15/01/2024 (✕ Invalid)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Mock Database Hit: Revoked Tourist Visa - Overstay Violation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Border Stamp: Evaluated for ink bleed authenticity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Verdict: SECONDARY DETENTION / REJECTED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Scenario 3: Tampered Passport + Impersonator</a:t>
            </a:r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CRITICAL RISK / REJECTED (Score: 86/100)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Document: Tampered Passport with altered name 'Vikram Mehta'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Photo Splice: Compression anomaly detected on facial ROI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ICAO MRZ Checksum: Corrupt check digit mathematically flagged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Biometric Match: 32.5% similarity (MISMATCH CONFIRMED)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Verdict: IDENTITY IMPERSONATION ALERT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2"/>
          </a:solidFill>
          <a:ln>
            <a:solidFill>
              <a:srgbClr val="0A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DB5"/>
                </a:solidFill>
              </a:defRPr>
            </a:pPr>
            <a:r>
              <a:t>SIH26188 • MINISTRY OF HOME AFFAIRS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Key Differentiators: Why TruthLens Stands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1005840"/>
          </a:xfrm>
          <a:prstGeom prst="roundRect">
            <a:avLst/>
          </a:prstGeom>
          <a:solidFill>
            <a:srgbClr val="0E1C30"/>
          </a:solidFill>
          <a:ln w="19050"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5D4"/>
                </a:solidFill>
              </a:defRPr>
            </a:pPr>
            <a:r>
              <a:t>1. Explainable Legal Audit Trail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Unlike black-box neural networks that simply output 'Fake: 95%', TruthLens provides an itemized, court-admissible forensic breakdown with exact mathematical proofs and localized bounding boxes.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10728655" cy="1005840"/>
          </a:xfrm>
          <a:prstGeom prst="roundRect">
            <a:avLst/>
          </a:prstGeom>
          <a:solidFill>
            <a:srgbClr val="0E1C30"/>
          </a:solidFill>
          <a:ln w="19050"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5D4"/>
                </a:solidFill>
              </a:defRPr>
            </a:pPr>
            <a:r>
              <a:t>2. Dual Mathematical Checksums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Combines UIDAI Verhoeff D5 dihedral permutations for Indian national IDs and ICAO 9303 cyclic 7-3-1 weighting for international passports.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728655" cy="1005840"/>
          </a:xfrm>
          <a:prstGeom prst="roundRect">
            <a:avLst/>
          </a:prstGeom>
          <a:solidFill>
            <a:srgbClr val="0E1C30"/>
          </a:solidFill>
          <a:ln w="19050"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5D4"/>
                </a:solidFill>
              </a:defRPr>
            </a:pPr>
            <a:r>
              <a:t>3. 100% Local Deployment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Runs entirely on-premises without transmitting sensitive citizen biometric data to external commercial cloud APIs.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728655" cy="1005840"/>
          </a:xfrm>
          <a:prstGeom prst="roundRect">
            <a:avLst/>
          </a:prstGeom>
          <a:solidFill>
            <a:srgbClr val="0E1C30"/>
          </a:solidFill>
          <a:ln w="19050"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5D4"/>
                </a:solidFill>
              </a:defRPr>
            </a:pPr>
            <a:r>
              <a:t>4. Sub-2-Second High Throughput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Processes complete 7-step pipeline in 1.2 to 1.8 seconds, enabling high-volume border screening without terminal delays.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2"/>
          </a:solidFill>
          <a:ln>
            <a:solidFill>
              <a:srgbClr val="0A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DB5"/>
                </a:solidFill>
              </a:defRPr>
            </a:pPr>
            <a:r>
              <a:t>SIH26188 • MINISTRY OF HOME AFFAIRS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National Impact &amp; Future Scalability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0E1C30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F5D4"/>
                </a:solidFill>
              </a:defRPr>
            </a:pPr>
            <a:r>
              <a:t>Expected Border Security Impact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🎯 Throughput Acceleration: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Reduces inspection time from several minutes to under 2 seconds per passenger.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🎯 Elimination of Human Error: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Automates detection of microscopic JPEG recompression splices and math check digit anomalies.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🎯 Standardized Decision Making: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Enforces uniform risk thresholds across all airport and seaport terminals nationwide.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🎯 Intelligence Trail: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Creates digital audit trails for counter-terrorism and anti-human-trafficking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0E1C30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F5D4"/>
                </a:solidFill>
              </a:defRPr>
            </a:pPr>
            <a:r>
              <a:t>Future Scalability Roadmap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🚀 NFC e-Passport Chip Reading: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Integration of ISO/IEC 14443 contactless smart card chip readers for biometric e-Passports.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🚀 Blockchain Watchlist Synchronization: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Decentralized, tamper-proof synchronization of Interpol and MHA watchlists across air terminals.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🚀 Multi-Camera Live CCTV Matching: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Matching document portrait against continuous walkthrough checkpoint video streams.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🚀 Hardware Kiosk Deployment: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Standalone self-service border e-Gates (Smart Border Corridors).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22"/>
          </a:solidFill>
          <a:ln>
            <a:solidFill>
              <a:srgbClr val="0A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0E1C30"/>
          </a:solidFill>
          <a:ln w="254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DB5"/>
                </a:solidFill>
              </a:defRPr>
            </a:pPr>
            <a:r>
              <a:t>TRUTHLENS • SIH26188</a:t>
            </a:r>
          </a:p>
          <a:p>
            <a:pPr>
              <a:defRPr sz="4000" b="1">
                <a:solidFill>
                  <a:srgbClr val="F1F5F9"/>
                </a:solidFill>
              </a:defRPr>
            </a:pPr>
            <a:r>
              <a:t>Thank You, Respected Judges!</a:t>
            </a:r>
          </a:p>
          <a:p>
            <a:pPr>
              <a:defRPr sz="1800">
                <a:solidFill>
                  <a:srgbClr val="00F5D4"/>
                </a:solidFill>
              </a:defRPr>
            </a:pPr>
            <a:r>
              <a:t>Protecting National Borders with Explainable, Deterministic AI Forensics.</a:t>
            </a:r>
          </a:p>
          <a:p>
            <a:br/>
            <a:pPr>
              <a:defRPr sz="1500">
                <a:solidFill>
                  <a:srgbClr val="94A3B8"/>
                </a:solidFill>
              </a:defRPr>
            </a:pPr>
            <a:r>
              <a:t>Ready for Questions &amp; Live Interactive Demonstration:</a:t>
            </a:r>
            <a:br/>
            <a:r>
              <a:t>• Web Interface: http://127.0.0.1:8000</a:t>
            </a:r>
            <a:br/>
            <a:r>
              <a:t>• Fast, Explainable, and 100%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